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eaccbf76-0f03-18c2-04df-1bfe16f634fd}">
          <p14:sldIdLst>
            <p14:sldId id="256"/>
            <p14:sldId id="257"/>
            <p14:sldId id="258"/>
          </p14:sldIdLst>
        </p14:section>
        <p14:section name="Flows" id="{4d439598-c599-6471-e7be-120d062408e9}">
          <p14:sldIdLst>
            <p14:sldId id="259"/>
            <p14:sldId id="260"/>
            <p14:sldId id="261"/>
          </p14:sldIdLst>
        </p14:section>
        <p14:section name="Outcome" id="{0932a140-9f4b-bb35-ee15-396cdebe9963}">
          <p14:sldIdLst>
            <p14:sldId id="262"/>
            <p14:sldId id="263"/>
          </p14:sldIdLst>
        </p14:section>
        <p14:section name="Summary" id="{a58c043f-5d08-7ec2-0607-98efa7551a7f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DCR module: the business process that controls how documents are created and 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objectives of the DCR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documents get a new number; existing documents keep the number and move to the next revision.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flow left to right, then the approval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document number never changes; only the revision increases after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Reviewer decides; rejection closes the DCR with no changes to the Master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things happen automatically after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the status changes from Current to Superseded when a new revision is approved.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End-to-end view including both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key message: the full lifecycle from submission to an updated Master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71600"/>
            <a:ext cx="777240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23360"/>
            <a:ext cx="77724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Manufacturing QMS  |  Document Change Request (DCR)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Manufacturing QMS  |  Document Change Request (DCR)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71600"/>
            <a:ext cx="7772400" cy="2468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Manufacturing QMS – Document Change Request (DCR)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23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accent1"/>
                </a:solidFill>
              </a:rPr>
              <a:t>Controlled Document Management</a:t>
            </a:r>
            <a:endParaRPr lang="en-US" sz="2400" dirty="0"/>
          </a:p>
        </p:txBody>
      </p:sp>
      <p:sp>
        <p:nvSpPr>
          <p:cNvPr id="4" name="circle-1"/>
          <p:cNvSpPr/>
          <p:nvPr/>
        </p:nvSpPr>
        <p:spPr>
          <a:xfrm>
            <a:off x="8961120" y="1737360"/>
            <a:ext cx="2743200" cy="2743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FileSignatur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423160"/>
            <a:ext cx="1371600" cy="1371600"/>
          </a:xfrm>
          <a:prstGeom prst="rect">
            <a:avLst/>
          </a:prstGeom>
        </p:spPr>
      </p:pic>
      <p:sp>
        <p:nvSpPr>
          <p:cNvPr id="6" name="text-2"/>
          <p:cNvSpPr txBox="1"/>
          <p:nvPr/>
        </p:nvSpPr>
        <p:spPr>
          <a:xfrm>
            <a:off x="822960" y="53949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Submit  ›  Review  ›  Approve  ›  Store  ›  Update Master Table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Purpose</a:t>
            </a:r>
            <a:endParaRPr lang="en-US" sz="3600" dirty="0"/>
          </a:p>
        </p:txBody>
      </p:sp>
      <p:sp>
        <p:nvSpPr>
          <p:cNvPr id="3" name="shape-3"/>
          <p:cNvSpPr/>
          <p:nvPr/>
        </p:nvSpPr>
        <p:spPr>
          <a:xfrm>
            <a:off x="548640" y="1463040"/>
            <a:ext cx="4023360" cy="466344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/>
        </p:spPr>
      </p:sp>
      <p:sp>
        <p:nvSpPr>
          <p:cNvPr id="4" name="circle-4"/>
          <p:cNvSpPr/>
          <p:nvPr/>
        </p:nvSpPr>
        <p:spPr>
          <a:xfrm>
            <a:off x="868680" y="17830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FileAl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002536"/>
            <a:ext cx="475488" cy="475488"/>
          </a:xfrm>
          <a:prstGeom prst="rect">
            <a:avLst/>
          </a:prstGeom>
        </p:spPr>
      </p:pic>
      <p:sp>
        <p:nvSpPr>
          <p:cNvPr id="6" name="text-5"/>
          <p:cNvSpPr txBox="1"/>
          <p:nvPr/>
        </p:nvSpPr>
        <p:spPr>
          <a:xfrm>
            <a:off x="868680" y="2926080"/>
            <a:ext cx="3383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The DCR module manages the creation and modification of controlled documents.</a:t>
            </a:r>
            <a:endParaRPr lang="en-US" sz="2400" dirty="0"/>
          </a:p>
        </p:txBody>
      </p:sp>
      <p:sp>
        <p:nvSpPr>
          <p:cNvPr id="7" name="text-6"/>
          <p:cNvSpPr txBox="1"/>
          <p:nvPr/>
        </p:nvSpPr>
        <p:spPr>
          <a:xfrm>
            <a:off x="5029200" y="1371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Objectives</a:t>
            </a:r>
            <a:endParaRPr lang="en-US" sz="2200" dirty="0"/>
          </a:p>
        </p:txBody>
      </p:sp>
      <p:sp>
        <p:nvSpPr>
          <p:cNvPr id="8" name="shape-7"/>
          <p:cNvSpPr/>
          <p:nvPr/>
        </p:nvSpPr>
        <p:spPr>
          <a:xfrm>
            <a:off x="5029200" y="1920240"/>
            <a:ext cx="658368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9" name="circle-8"/>
          <p:cNvSpPr/>
          <p:nvPr/>
        </p:nvSpPr>
        <p:spPr>
          <a:xfrm>
            <a:off x="5102352" y="197510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FileAl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508" y="2080260"/>
            <a:ext cx="210312" cy="210312"/>
          </a:xfrm>
          <a:prstGeom prst="rect">
            <a:avLst/>
          </a:prstGeom>
        </p:spPr>
      </p:pic>
      <p:sp>
        <p:nvSpPr>
          <p:cNvPr id="11" name="text-9"/>
          <p:cNvSpPr txBox="1"/>
          <p:nvPr/>
        </p:nvSpPr>
        <p:spPr>
          <a:xfrm>
            <a:off x="5715000" y="1920240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Manage new documents</a:t>
            </a:r>
            <a:endParaRPr lang="en-US" sz="1700" dirty="0"/>
          </a:p>
        </p:txBody>
      </p:sp>
      <p:sp>
        <p:nvSpPr>
          <p:cNvPr id="12" name="shape-10"/>
          <p:cNvSpPr/>
          <p:nvPr/>
        </p:nvSpPr>
        <p:spPr>
          <a:xfrm>
            <a:off x="5029200" y="2523744"/>
            <a:ext cx="658368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13" name="circle-11"/>
          <p:cNvSpPr/>
          <p:nvPr/>
        </p:nvSpPr>
        <p:spPr>
          <a:xfrm>
            <a:off x="5102352" y="257860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2" descr="Edi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508" y="2683764"/>
            <a:ext cx="210312" cy="210312"/>
          </a:xfrm>
          <a:prstGeom prst="rect">
            <a:avLst/>
          </a:prstGeom>
        </p:spPr>
      </p:pic>
      <p:sp>
        <p:nvSpPr>
          <p:cNvPr id="15" name="text-12"/>
          <p:cNvSpPr txBox="1"/>
          <p:nvPr/>
        </p:nvSpPr>
        <p:spPr>
          <a:xfrm>
            <a:off x="5715000" y="2523744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Manage changes to existing documents</a:t>
            </a:r>
            <a:endParaRPr lang="en-US" sz="1700" dirty="0"/>
          </a:p>
        </p:txBody>
      </p:sp>
      <p:sp>
        <p:nvSpPr>
          <p:cNvPr id="16" name="shape-13"/>
          <p:cNvSpPr/>
          <p:nvPr/>
        </p:nvSpPr>
        <p:spPr>
          <a:xfrm>
            <a:off x="5029200" y="3127248"/>
            <a:ext cx="658368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17" name="circle-14"/>
          <p:cNvSpPr/>
          <p:nvPr/>
        </p:nvSpPr>
        <p:spPr>
          <a:xfrm>
            <a:off x="5102352" y="318211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3" descr="ClipboardChe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508" y="3287268"/>
            <a:ext cx="210312" cy="210312"/>
          </a:xfrm>
          <a:prstGeom prst="rect">
            <a:avLst/>
          </a:prstGeom>
        </p:spPr>
      </p:pic>
      <p:sp>
        <p:nvSpPr>
          <p:cNvPr id="19" name="text-15"/>
          <p:cNvSpPr txBox="1"/>
          <p:nvPr/>
        </p:nvSpPr>
        <p:spPr>
          <a:xfrm>
            <a:off x="5715000" y="3127248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Approval / rejection workflow</a:t>
            </a:r>
            <a:endParaRPr lang="en-US" sz="1700" dirty="0"/>
          </a:p>
        </p:txBody>
      </p:sp>
      <p:sp>
        <p:nvSpPr>
          <p:cNvPr id="20" name="shape-16"/>
          <p:cNvSpPr/>
          <p:nvPr/>
        </p:nvSpPr>
        <p:spPr>
          <a:xfrm>
            <a:off x="5029200" y="3730752"/>
            <a:ext cx="658368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21" name="circle-17"/>
          <p:cNvSpPr/>
          <p:nvPr/>
        </p:nvSpPr>
        <p:spPr>
          <a:xfrm>
            <a:off x="5102352" y="378561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mage 4" descr="SyncAlt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7508" y="3890772"/>
            <a:ext cx="210312" cy="210312"/>
          </a:xfrm>
          <a:prstGeom prst="rect">
            <a:avLst/>
          </a:prstGeom>
        </p:spPr>
      </p:pic>
      <p:sp>
        <p:nvSpPr>
          <p:cNvPr id="23" name="text-18"/>
          <p:cNvSpPr txBox="1"/>
          <p:nvPr/>
        </p:nvSpPr>
        <p:spPr>
          <a:xfrm>
            <a:off x="5715000" y="3730752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Automatic revision management</a:t>
            </a:r>
            <a:endParaRPr lang="en-US" sz="1700" dirty="0"/>
          </a:p>
        </p:txBody>
      </p:sp>
      <p:sp>
        <p:nvSpPr>
          <p:cNvPr id="24" name="shape-19"/>
          <p:cNvSpPr/>
          <p:nvPr/>
        </p:nvSpPr>
        <p:spPr>
          <a:xfrm>
            <a:off x="5029200" y="4334256"/>
            <a:ext cx="658368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25" name="circle-20"/>
          <p:cNvSpPr/>
          <p:nvPr/>
        </p:nvSpPr>
        <p:spPr>
          <a:xfrm>
            <a:off x="5102352" y="438912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5" descr="FolderOpen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7508" y="4494276"/>
            <a:ext cx="210312" cy="210312"/>
          </a:xfrm>
          <a:prstGeom prst="rect">
            <a:avLst/>
          </a:prstGeom>
        </p:spPr>
      </p:pic>
      <p:sp>
        <p:nvSpPr>
          <p:cNvPr id="27" name="text-21"/>
          <p:cNvSpPr txBox="1"/>
          <p:nvPr/>
        </p:nvSpPr>
        <p:spPr>
          <a:xfrm>
            <a:off x="5715000" y="4334256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Correct ISO document storage</a:t>
            </a:r>
            <a:endParaRPr lang="en-US" sz="1700" dirty="0"/>
          </a:p>
        </p:txBody>
      </p:sp>
      <p:sp>
        <p:nvSpPr>
          <p:cNvPr id="28" name="shape-22"/>
          <p:cNvSpPr/>
          <p:nvPr/>
        </p:nvSpPr>
        <p:spPr>
          <a:xfrm>
            <a:off x="5029200" y="4937760"/>
            <a:ext cx="658368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29" name="circle-23"/>
          <p:cNvSpPr/>
          <p:nvPr/>
        </p:nvSpPr>
        <p:spPr>
          <a:xfrm>
            <a:off x="5102352" y="499262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6" descr="Table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7508" y="5097780"/>
            <a:ext cx="210312" cy="210312"/>
          </a:xfrm>
          <a:prstGeom prst="rect">
            <a:avLst/>
          </a:prstGeom>
        </p:spPr>
      </p:pic>
      <p:sp>
        <p:nvSpPr>
          <p:cNvPr id="31" name="text-24"/>
          <p:cNvSpPr txBox="1"/>
          <p:nvPr/>
        </p:nvSpPr>
        <p:spPr>
          <a:xfrm>
            <a:off x="5715000" y="4937760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Master Table maintenance</a:t>
            </a:r>
            <a:endParaRPr lang="en-US" sz="1700" dirty="0"/>
          </a:p>
        </p:txBody>
      </p:sp>
      <p:sp>
        <p:nvSpPr>
          <p:cNvPr id="32" name="shape-25"/>
          <p:cNvSpPr/>
          <p:nvPr/>
        </p:nvSpPr>
        <p:spPr>
          <a:xfrm>
            <a:off x="5029200" y="5541264"/>
            <a:ext cx="658368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33" name="circle-26"/>
          <p:cNvSpPr/>
          <p:nvPr/>
        </p:nvSpPr>
        <p:spPr>
          <a:xfrm>
            <a:off x="5102352" y="559612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4" name="Image 7" descr="History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07508" y="5701284"/>
            <a:ext cx="210312" cy="210312"/>
          </a:xfrm>
          <a:prstGeom prst="rect">
            <a:avLst/>
          </a:prstGeom>
        </p:spPr>
      </p:pic>
      <p:sp>
        <p:nvSpPr>
          <p:cNvPr id="35" name="text-27"/>
          <p:cNvSpPr txBox="1"/>
          <p:nvPr/>
        </p:nvSpPr>
        <p:spPr>
          <a:xfrm>
            <a:off x="5715000" y="5541264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Complete document history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Two Types of DCR</a:t>
            </a:r>
            <a:endParaRPr lang="en-US" sz="3600" dirty="0"/>
          </a:p>
        </p:txBody>
      </p:sp>
      <p:sp>
        <p:nvSpPr>
          <p:cNvPr id="3" name="shape-28"/>
          <p:cNvSpPr/>
          <p:nvPr/>
        </p:nvSpPr>
        <p:spPr>
          <a:xfrm>
            <a:off x="548640" y="1463040"/>
            <a:ext cx="5394960" cy="4663440"/>
          </a:xfrm>
          <a:prstGeom prst="roundRect">
            <a:avLst>
              <a:gd name="adj" fmla="val 1961"/>
            </a:avLst>
          </a:prstGeom>
          <a:solidFill>
            <a:schemeClr val="bg2"/>
          </a:solidFill>
          <a:ln/>
        </p:spPr>
      </p:sp>
      <p:sp>
        <p:nvSpPr>
          <p:cNvPr id="4" name="circle-29"/>
          <p:cNvSpPr/>
          <p:nvPr/>
        </p:nvSpPr>
        <p:spPr>
          <a:xfrm>
            <a:off x="868680" y="1783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lusCirc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1958645"/>
            <a:ext cx="380390" cy="380390"/>
          </a:xfrm>
          <a:prstGeom prst="rect">
            <a:avLst/>
          </a:prstGeom>
        </p:spPr>
      </p:pic>
      <p:sp>
        <p:nvSpPr>
          <p:cNvPr id="6" name="text-30"/>
          <p:cNvSpPr txBox="1"/>
          <p:nvPr/>
        </p:nvSpPr>
        <p:spPr>
          <a:xfrm>
            <a:off x="1828800" y="17830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1. New Document DCR</a:t>
            </a:r>
            <a:endParaRPr lang="en-US" sz="2400" dirty="0"/>
          </a:p>
        </p:txBody>
      </p:sp>
      <p:sp>
        <p:nvSpPr>
          <p:cNvPr id="7" name="text-31"/>
          <p:cNvSpPr txBox="1"/>
          <p:nvPr/>
        </p:nvSpPr>
        <p:spPr>
          <a:xfrm>
            <a:off x="914400" y="27432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Employee wants to create a completely new document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System assigns a new Document Number</a:t>
            </a:r>
            <a:endParaRPr lang="en-US" sz="1700" dirty="0"/>
          </a:p>
        </p:txBody>
      </p:sp>
      <p:sp>
        <p:nvSpPr>
          <p:cNvPr id="8" name="shape-32"/>
          <p:cNvSpPr/>
          <p:nvPr/>
        </p:nvSpPr>
        <p:spPr>
          <a:xfrm>
            <a:off x="868680" y="4434840"/>
            <a:ext cx="475488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/>
        </p:spPr>
      </p:sp>
      <p:sp>
        <p:nvSpPr>
          <p:cNvPr id="9" name="text-33"/>
          <p:cNvSpPr txBox="1"/>
          <p:nvPr/>
        </p:nvSpPr>
        <p:spPr>
          <a:xfrm>
            <a:off x="1097280" y="4526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EXAMPLE</a:t>
            </a:r>
            <a:endParaRPr lang="en-US" sz="1100" dirty="0"/>
          </a:p>
        </p:txBody>
      </p:sp>
      <p:sp>
        <p:nvSpPr>
          <p:cNvPr id="10" name="shape-34"/>
          <p:cNvSpPr/>
          <p:nvPr/>
        </p:nvSpPr>
        <p:spPr>
          <a:xfrm>
            <a:off x="6217920" y="1463040"/>
            <a:ext cx="5394960" cy="4663440"/>
          </a:xfrm>
          <a:prstGeom prst="roundRect">
            <a:avLst>
              <a:gd name="adj" fmla="val 1961"/>
            </a:avLst>
          </a:prstGeom>
          <a:solidFill>
            <a:schemeClr val="bg2"/>
          </a:solidFill>
          <a:ln/>
        </p:spPr>
      </p:sp>
      <p:sp>
        <p:nvSpPr>
          <p:cNvPr id="11" name="circle-35"/>
          <p:cNvSpPr/>
          <p:nvPr/>
        </p:nvSpPr>
        <p:spPr>
          <a:xfrm>
            <a:off x="6537960" y="178308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2" name="Image 1" descr="Edi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3525" y="1958645"/>
            <a:ext cx="380390" cy="380390"/>
          </a:xfrm>
          <a:prstGeom prst="rect">
            <a:avLst/>
          </a:prstGeom>
        </p:spPr>
      </p:pic>
      <p:sp>
        <p:nvSpPr>
          <p:cNvPr id="13" name="text-36"/>
          <p:cNvSpPr txBox="1"/>
          <p:nvPr/>
        </p:nvSpPr>
        <p:spPr>
          <a:xfrm>
            <a:off x="7498080" y="17830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2. Existing Document DCR</a:t>
            </a:r>
            <a:endParaRPr lang="en-US" sz="2400" dirty="0"/>
          </a:p>
        </p:txBody>
      </p:sp>
      <p:sp>
        <p:nvSpPr>
          <p:cNvPr id="14" name="text-37"/>
          <p:cNvSpPr txBox="1"/>
          <p:nvPr/>
        </p:nvSpPr>
        <p:spPr>
          <a:xfrm>
            <a:off x="6583680" y="27432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Employee wants to modify an existing document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Document Number remains the same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Revision number increases after approval</a:t>
            </a:r>
            <a:endParaRPr lang="en-US" sz="1700" dirty="0"/>
          </a:p>
        </p:txBody>
      </p:sp>
      <p:sp>
        <p:nvSpPr>
          <p:cNvPr id="15" name="shape-38"/>
          <p:cNvSpPr/>
          <p:nvPr/>
        </p:nvSpPr>
        <p:spPr>
          <a:xfrm>
            <a:off x="6537960" y="4434840"/>
            <a:ext cx="475488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/>
        </p:spPr>
      </p:sp>
      <p:sp>
        <p:nvSpPr>
          <p:cNvPr id="16" name="text-39"/>
          <p:cNvSpPr txBox="1"/>
          <p:nvPr/>
        </p:nvSpPr>
        <p:spPr>
          <a:xfrm>
            <a:off x="6766560" y="4526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EXAMPLE</a:t>
            </a:r>
            <a:endParaRPr lang="en-US" sz="1100" dirty="0"/>
          </a:p>
        </p:txBody>
      </p:sp>
      <p:sp>
        <p:nvSpPr>
          <p:cNvPr id="17" name="text-40"/>
          <p:cNvSpPr txBox="1"/>
          <p:nvPr/>
        </p:nvSpPr>
        <p:spPr>
          <a:xfrm>
            <a:off x="1097280" y="48463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PROD-WI-001</a:t>
            </a:r>
            <a:endParaRPr lang="en-US" sz="3200" dirty="0"/>
          </a:p>
        </p:txBody>
      </p:sp>
      <p:sp>
        <p:nvSpPr>
          <p:cNvPr id="18" name="chip-41"/>
          <p:cNvSpPr txBox="1"/>
          <p:nvPr/>
        </p:nvSpPr>
        <p:spPr>
          <a:xfrm>
            <a:off x="6537960" y="4846320"/>
            <a:ext cx="18288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PROD-WI-001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Rev 1</a:t>
            </a:r>
            <a:endParaRPr lang="en-US" sz="1600" dirty="0"/>
          </a:p>
        </p:txBody>
      </p:sp>
      <p:sp>
        <p:nvSpPr>
          <p:cNvPr id="19" name="arrow-42"/>
          <p:cNvSpPr/>
          <p:nvPr/>
        </p:nvSpPr>
        <p:spPr>
          <a:xfrm>
            <a:off x="8412480" y="5230368"/>
            <a:ext cx="594360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chip-43"/>
          <p:cNvSpPr txBox="1"/>
          <p:nvPr/>
        </p:nvSpPr>
        <p:spPr>
          <a:xfrm>
            <a:off x="9052560" y="4846320"/>
            <a:ext cx="182880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PROD-WI-001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Rev 2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New Document DCR Flow</a:t>
            </a:r>
            <a:endParaRPr lang="en-US" sz="3600" dirty="0"/>
          </a:p>
        </p:txBody>
      </p:sp>
      <p:sp>
        <p:nvSpPr>
          <p:cNvPr id="3" name="shape-44"/>
          <p:cNvSpPr/>
          <p:nvPr/>
        </p:nvSpPr>
        <p:spPr>
          <a:xfrm>
            <a:off x="548640" y="1463040"/>
            <a:ext cx="16002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pic>
        <p:nvPicPr>
          <p:cNvPr id="4" name="Image 0" descr="Employee Creates New DC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716" y="1591056"/>
            <a:ext cx="384048" cy="384048"/>
          </a:xfrm>
          <a:prstGeom prst="rect">
            <a:avLst/>
          </a:prstGeom>
        </p:spPr>
      </p:pic>
      <p:sp>
        <p:nvSpPr>
          <p:cNvPr id="5" name="text-45"/>
          <p:cNvSpPr txBox="1"/>
          <p:nvPr/>
        </p:nvSpPr>
        <p:spPr>
          <a:xfrm>
            <a:off x="621792" y="2011680"/>
            <a:ext cx="1453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Employee Creates New DCR</a:t>
            </a:r>
            <a:endParaRPr lang="en-US" sz="1400" dirty="0"/>
          </a:p>
        </p:txBody>
      </p:sp>
      <p:sp>
        <p:nvSpPr>
          <p:cNvPr id="6" name="arrow-46"/>
          <p:cNvSpPr/>
          <p:nvPr/>
        </p:nvSpPr>
        <p:spPr>
          <a:xfrm>
            <a:off x="2167128" y="2148840"/>
            <a:ext cx="256032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shape-47"/>
          <p:cNvSpPr/>
          <p:nvPr/>
        </p:nvSpPr>
        <p:spPr>
          <a:xfrm>
            <a:off x="2441448" y="1463040"/>
            <a:ext cx="16002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pic>
        <p:nvPicPr>
          <p:cNvPr id="8" name="Image 1" descr="Enter Document Detai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524" y="1591056"/>
            <a:ext cx="384048" cy="384048"/>
          </a:xfrm>
          <a:prstGeom prst="rect">
            <a:avLst/>
          </a:prstGeom>
        </p:spPr>
      </p:pic>
      <p:sp>
        <p:nvSpPr>
          <p:cNvPr id="9" name="text-48"/>
          <p:cNvSpPr txBox="1"/>
          <p:nvPr/>
        </p:nvSpPr>
        <p:spPr>
          <a:xfrm>
            <a:off x="2514600" y="2011680"/>
            <a:ext cx="1453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Enter Document Details</a:t>
            </a:r>
            <a:endParaRPr lang="en-US" sz="1400" dirty="0"/>
          </a:p>
        </p:txBody>
      </p:sp>
      <p:sp>
        <p:nvSpPr>
          <p:cNvPr id="10" name="arrow-49"/>
          <p:cNvSpPr/>
          <p:nvPr/>
        </p:nvSpPr>
        <p:spPr>
          <a:xfrm>
            <a:off x="4059936" y="2148840"/>
            <a:ext cx="256032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shape-50"/>
          <p:cNvSpPr/>
          <p:nvPr/>
        </p:nvSpPr>
        <p:spPr>
          <a:xfrm>
            <a:off x="4334256" y="1463040"/>
            <a:ext cx="16002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pic>
        <p:nvPicPr>
          <p:cNvPr id="12" name="Image 2" descr="Upload Docume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332" y="1591056"/>
            <a:ext cx="384048" cy="384048"/>
          </a:xfrm>
          <a:prstGeom prst="rect">
            <a:avLst/>
          </a:prstGeom>
        </p:spPr>
      </p:pic>
      <p:sp>
        <p:nvSpPr>
          <p:cNvPr id="13" name="text-51"/>
          <p:cNvSpPr txBox="1"/>
          <p:nvPr/>
        </p:nvSpPr>
        <p:spPr>
          <a:xfrm>
            <a:off x="4407408" y="2011680"/>
            <a:ext cx="1453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Upload Document</a:t>
            </a:r>
            <a:endParaRPr lang="en-US" sz="1400" dirty="0"/>
          </a:p>
        </p:txBody>
      </p:sp>
      <p:sp>
        <p:nvSpPr>
          <p:cNvPr id="14" name="arrow-52"/>
          <p:cNvSpPr/>
          <p:nvPr/>
        </p:nvSpPr>
        <p:spPr>
          <a:xfrm>
            <a:off x="5952744" y="2148840"/>
            <a:ext cx="256032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shape-53"/>
          <p:cNvSpPr/>
          <p:nvPr/>
        </p:nvSpPr>
        <p:spPr>
          <a:xfrm>
            <a:off x="6227064" y="1463040"/>
            <a:ext cx="16002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pic>
        <p:nvPicPr>
          <p:cNvPr id="16" name="Image 3" descr="Submi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140" y="1591056"/>
            <a:ext cx="384048" cy="384048"/>
          </a:xfrm>
          <a:prstGeom prst="rect">
            <a:avLst/>
          </a:prstGeom>
        </p:spPr>
      </p:pic>
      <p:sp>
        <p:nvSpPr>
          <p:cNvPr id="17" name="text-54"/>
          <p:cNvSpPr txBox="1"/>
          <p:nvPr/>
        </p:nvSpPr>
        <p:spPr>
          <a:xfrm>
            <a:off x="6300216" y="2011680"/>
            <a:ext cx="1453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Submit</a:t>
            </a:r>
            <a:endParaRPr lang="en-US" sz="1400" dirty="0"/>
          </a:p>
        </p:txBody>
      </p:sp>
      <p:sp>
        <p:nvSpPr>
          <p:cNvPr id="18" name="arrow-55"/>
          <p:cNvSpPr/>
          <p:nvPr/>
        </p:nvSpPr>
        <p:spPr>
          <a:xfrm>
            <a:off x="7845552" y="2148840"/>
            <a:ext cx="256032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shape-56"/>
          <p:cNvSpPr/>
          <p:nvPr/>
        </p:nvSpPr>
        <p:spPr>
          <a:xfrm>
            <a:off x="8119872" y="1463040"/>
            <a:ext cx="160020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</p:sp>
      <p:pic>
        <p:nvPicPr>
          <p:cNvPr id="20" name="Image 4" descr="Review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7948" y="1591056"/>
            <a:ext cx="384048" cy="384048"/>
          </a:xfrm>
          <a:prstGeom prst="rect">
            <a:avLst/>
          </a:prstGeom>
        </p:spPr>
      </p:pic>
      <p:sp>
        <p:nvSpPr>
          <p:cNvPr id="21" name="text-57"/>
          <p:cNvSpPr txBox="1"/>
          <p:nvPr/>
        </p:nvSpPr>
        <p:spPr>
          <a:xfrm>
            <a:off x="8193024" y="2011680"/>
            <a:ext cx="1453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Reviewer</a:t>
            </a:r>
            <a:endParaRPr lang="en-US" sz="1400" dirty="0"/>
          </a:p>
        </p:txBody>
      </p:sp>
      <p:sp>
        <p:nvSpPr>
          <p:cNvPr id="22" name="arrow-58"/>
          <p:cNvSpPr/>
          <p:nvPr/>
        </p:nvSpPr>
        <p:spPr>
          <a:xfrm>
            <a:off x="9738360" y="2148840"/>
            <a:ext cx="256032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shape-59"/>
          <p:cNvSpPr/>
          <p:nvPr/>
        </p:nvSpPr>
        <p:spPr>
          <a:xfrm>
            <a:off x="10012680" y="1463040"/>
            <a:ext cx="1600200" cy="13716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/>
        </p:spPr>
      </p:sp>
      <p:pic>
        <p:nvPicPr>
          <p:cNvPr id="24" name="Image 5" descr="Approve / Rejec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0756" y="1591056"/>
            <a:ext cx="384048" cy="384048"/>
          </a:xfrm>
          <a:prstGeom prst="rect">
            <a:avLst/>
          </a:prstGeom>
        </p:spPr>
      </p:pic>
      <p:sp>
        <p:nvSpPr>
          <p:cNvPr id="25" name="text-60"/>
          <p:cNvSpPr txBox="1"/>
          <p:nvPr/>
        </p:nvSpPr>
        <p:spPr>
          <a:xfrm>
            <a:off x="10085832" y="2011680"/>
            <a:ext cx="1453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Approve / Reject</a:t>
            </a:r>
            <a:endParaRPr lang="en-US" sz="1400" dirty="0"/>
          </a:p>
        </p:txBody>
      </p:sp>
      <p:sp>
        <p:nvSpPr>
          <p:cNvPr id="26" name="connector-61"/>
          <p:cNvSpPr/>
          <p:nvPr/>
        </p:nvSpPr>
        <p:spPr>
          <a:xfrm>
            <a:off x="10812780" y="2834640"/>
            <a:ext cx="0" cy="41148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27" name="connector-62"/>
          <p:cNvSpPr/>
          <p:nvPr/>
        </p:nvSpPr>
        <p:spPr>
          <a:xfrm>
            <a:off x="1737360" y="3246120"/>
            <a:ext cx="907542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28" name="arrow-63"/>
          <p:cNvSpPr/>
          <p:nvPr/>
        </p:nvSpPr>
        <p:spPr>
          <a:xfrm>
            <a:off x="1737360" y="3246120"/>
            <a:ext cx="0" cy="36576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9" name="pill-64"/>
          <p:cNvSpPr txBox="1"/>
          <p:nvPr/>
        </p:nvSpPr>
        <p:spPr>
          <a:xfrm>
            <a:off x="5404104" y="3063240"/>
            <a:ext cx="173736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If Approved</a:t>
            </a:r>
            <a:endParaRPr lang="en-US" sz="1400" dirty="0"/>
          </a:p>
        </p:txBody>
      </p:sp>
      <p:sp>
        <p:nvSpPr>
          <p:cNvPr id="30" name="shape-65"/>
          <p:cNvSpPr/>
          <p:nvPr/>
        </p:nvSpPr>
        <p:spPr>
          <a:xfrm>
            <a:off x="548640" y="3611880"/>
            <a:ext cx="2377440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/>
        </p:spPr>
      </p:sp>
      <p:pic>
        <p:nvPicPr>
          <p:cNvPr id="31" name="Image 6" descr="Assign New Document Numb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8760" y="3749040"/>
            <a:ext cx="457200" cy="457200"/>
          </a:xfrm>
          <a:prstGeom prst="rect">
            <a:avLst/>
          </a:prstGeom>
        </p:spPr>
      </p:pic>
      <p:sp>
        <p:nvSpPr>
          <p:cNvPr id="32" name="text-66"/>
          <p:cNvSpPr txBox="1"/>
          <p:nvPr/>
        </p:nvSpPr>
        <p:spPr>
          <a:xfrm>
            <a:off x="685800" y="42976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Assign New Document Number</a:t>
            </a:r>
            <a:endParaRPr lang="en-US" sz="1600" dirty="0"/>
          </a:p>
        </p:txBody>
      </p:sp>
      <p:sp>
        <p:nvSpPr>
          <p:cNvPr id="33" name="arrow-67"/>
          <p:cNvSpPr/>
          <p:nvPr/>
        </p:nvSpPr>
        <p:spPr>
          <a:xfrm>
            <a:off x="2944368" y="4407408"/>
            <a:ext cx="484632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4" name="shape-68"/>
          <p:cNvSpPr/>
          <p:nvPr/>
        </p:nvSpPr>
        <p:spPr>
          <a:xfrm>
            <a:off x="3447288" y="3611880"/>
            <a:ext cx="2377440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/>
        </p:spPr>
      </p:sp>
      <p:pic>
        <p:nvPicPr>
          <p:cNvPr id="35" name="Image 7" descr="Calculate Page Coun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07408" y="3749040"/>
            <a:ext cx="457200" cy="457200"/>
          </a:xfrm>
          <a:prstGeom prst="rect">
            <a:avLst/>
          </a:prstGeom>
        </p:spPr>
      </p:pic>
      <p:sp>
        <p:nvSpPr>
          <p:cNvPr id="36" name="text-69"/>
          <p:cNvSpPr txBox="1"/>
          <p:nvPr/>
        </p:nvSpPr>
        <p:spPr>
          <a:xfrm>
            <a:off x="3584448" y="42976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Calculate Page Count</a:t>
            </a:r>
            <a:endParaRPr lang="en-US" sz="1600" dirty="0"/>
          </a:p>
        </p:txBody>
      </p:sp>
      <p:sp>
        <p:nvSpPr>
          <p:cNvPr id="37" name="arrow-70"/>
          <p:cNvSpPr/>
          <p:nvPr/>
        </p:nvSpPr>
        <p:spPr>
          <a:xfrm>
            <a:off x="5843016" y="4407408"/>
            <a:ext cx="484632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8" name="shape-71"/>
          <p:cNvSpPr/>
          <p:nvPr/>
        </p:nvSpPr>
        <p:spPr>
          <a:xfrm>
            <a:off x="6345936" y="3611880"/>
            <a:ext cx="2377440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/>
        </p:spPr>
      </p:sp>
      <p:pic>
        <p:nvPicPr>
          <p:cNvPr id="39" name="Image 8" descr="Save Document in ISO Folder → Correct Department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6056" y="3749040"/>
            <a:ext cx="457200" cy="457200"/>
          </a:xfrm>
          <a:prstGeom prst="rect">
            <a:avLst/>
          </a:prstGeom>
        </p:spPr>
      </p:pic>
      <p:sp>
        <p:nvSpPr>
          <p:cNvPr id="40" name="text-72"/>
          <p:cNvSpPr txBox="1"/>
          <p:nvPr/>
        </p:nvSpPr>
        <p:spPr>
          <a:xfrm>
            <a:off x="6483096" y="42976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Save Document in ISO Folder → Correct Department</a:t>
            </a:r>
            <a:endParaRPr lang="en-US" sz="1600" dirty="0"/>
          </a:p>
        </p:txBody>
      </p:sp>
      <p:sp>
        <p:nvSpPr>
          <p:cNvPr id="41" name="arrow-73"/>
          <p:cNvSpPr/>
          <p:nvPr/>
        </p:nvSpPr>
        <p:spPr>
          <a:xfrm>
            <a:off x="8741664" y="4407408"/>
            <a:ext cx="484632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2" name="shape-74"/>
          <p:cNvSpPr/>
          <p:nvPr/>
        </p:nvSpPr>
        <p:spPr>
          <a:xfrm>
            <a:off x="9244584" y="3611880"/>
            <a:ext cx="2377440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/>
        </p:spPr>
      </p:sp>
      <p:pic>
        <p:nvPicPr>
          <p:cNvPr id="43" name="Image 9" descr="Add Document to Master Tabl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04704" y="3749040"/>
            <a:ext cx="457200" cy="457200"/>
          </a:xfrm>
          <a:prstGeom prst="rect">
            <a:avLst/>
          </a:prstGeom>
        </p:spPr>
      </p:pic>
      <p:sp>
        <p:nvSpPr>
          <p:cNvPr id="44" name="text-75"/>
          <p:cNvSpPr txBox="1"/>
          <p:nvPr/>
        </p:nvSpPr>
        <p:spPr>
          <a:xfrm>
            <a:off x="9381744" y="42976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Add Document to Master Table</a:t>
            </a:r>
            <a:endParaRPr lang="en-US" sz="1600" dirty="0"/>
          </a:p>
        </p:txBody>
      </p:sp>
      <p:sp>
        <p:nvSpPr>
          <p:cNvPr id="45" name="text-76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Result: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approved document is stored in the right place and the Master Table is always up to date.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Existing Document DCR Flow</a:t>
            </a:r>
            <a:endParaRPr lang="en-US" sz="3600" dirty="0"/>
          </a:p>
        </p:txBody>
      </p:sp>
      <p:sp>
        <p:nvSpPr>
          <p:cNvPr id="3" name="shape-77"/>
          <p:cNvSpPr/>
          <p:nvPr/>
        </p:nvSpPr>
        <p:spPr>
          <a:xfrm>
            <a:off x="548640" y="1463040"/>
            <a:ext cx="31089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4" name="text-78"/>
          <p:cNvSpPr txBox="1"/>
          <p:nvPr/>
        </p:nvSpPr>
        <p:spPr>
          <a:xfrm>
            <a:off x="77724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CURRENT DOCUMENT</a:t>
            </a:r>
            <a:endParaRPr lang="en-US" sz="1100" dirty="0"/>
          </a:p>
        </p:txBody>
      </p:sp>
      <p:sp>
        <p:nvSpPr>
          <p:cNvPr id="5" name="text-79"/>
          <p:cNvSpPr txBox="1"/>
          <p:nvPr/>
        </p:nvSpPr>
        <p:spPr>
          <a:xfrm>
            <a:off x="777240" y="18745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5"/>
                </a:solidFill>
              </a:rPr>
              <a:t>Document No: 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PROD-WI-001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5"/>
                </a:solidFill>
              </a:rPr>
              <a:t>Revision: 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5"/>
                </a:solidFill>
              </a:rPr>
              <a:t>Pages: 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sp>
        <p:nvSpPr>
          <p:cNvPr id="6" name="arrow-80"/>
          <p:cNvSpPr/>
          <p:nvPr/>
        </p:nvSpPr>
        <p:spPr>
          <a:xfrm>
            <a:off x="3675888" y="2286000"/>
            <a:ext cx="347472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shape-81"/>
          <p:cNvSpPr/>
          <p:nvPr/>
        </p:nvSpPr>
        <p:spPr>
          <a:xfrm>
            <a:off x="4032504" y="1463040"/>
            <a:ext cx="228600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pic>
        <p:nvPicPr>
          <p:cNvPr id="8" name="Image 0" descr="Employee Submits a Chan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1600200"/>
            <a:ext cx="457200" cy="457200"/>
          </a:xfrm>
          <a:prstGeom prst="rect">
            <a:avLst/>
          </a:prstGeom>
        </p:spPr>
      </p:pic>
      <p:sp>
        <p:nvSpPr>
          <p:cNvPr id="9" name="text-82"/>
          <p:cNvSpPr txBox="1"/>
          <p:nvPr/>
        </p:nvSpPr>
        <p:spPr>
          <a:xfrm>
            <a:off x="4142232" y="2148840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Employee Submits a Change</a:t>
            </a:r>
            <a:endParaRPr lang="en-US" sz="1600" dirty="0"/>
          </a:p>
        </p:txBody>
      </p:sp>
      <p:sp>
        <p:nvSpPr>
          <p:cNvPr id="10" name="arrow-83"/>
          <p:cNvSpPr/>
          <p:nvPr/>
        </p:nvSpPr>
        <p:spPr>
          <a:xfrm>
            <a:off x="6336792" y="2286000"/>
            <a:ext cx="338328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shape-84"/>
          <p:cNvSpPr/>
          <p:nvPr/>
        </p:nvSpPr>
        <p:spPr>
          <a:xfrm>
            <a:off x="6693408" y="1463040"/>
            <a:ext cx="228600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pic>
        <p:nvPicPr>
          <p:cNvPr id="12" name="Image 1" descr="Upload Updated Docume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08" y="1600200"/>
            <a:ext cx="457200" cy="457200"/>
          </a:xfrm>
          <a:prstGeom prst="rect">
            <a:avLst/>
          </a:prstGeom>
        </p:spPr>
      </p:pic>
      <p:sp>
        <p:nvSpPr>
          <p:cNvPr id="13" name="text-85"/>
          <p:cNvSpPr txBox="1"/>
          <p:nvPr/>
        </p:nvSpPr>
        <p:spPr>
          <a:xfrm>
            <a:off x="6803136" y="2148840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Upload Updated Document</a:t>
            </a:r>
            <a:endParaRPr lang="en-US" sz="1600" dirty="0"/>
          </a:p>
        </p:txBody>
      </p:sp>
      <p:sp>
        <p:nvSpPr>
          <p:cNvPr id="14" name="arrow-86"/>
          <p:cNvSpPr/>
          <p:nvPr/>
        </p:nvSpPr>
        <p:spPr>
          <a:xfrm>
            <a:off x="8997696" y="2286000"/>
            <a:ext cx="338328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shape-87"/>
          <p:cNvSpPr/>
          <p:nvPr/>
        </p:nvSpPr>
        <p:spPr>
          <a:xfrm>
            <a:off x="9354312" y="1463040"/>
            <a:ext cx="2286000" cy="1645920"/>
          </a:xfrm>
          <a:prstGeom prst="roundRect">
            <a:avLst>
              <a:gd name="adj" fmla="val 4444"/>
            </a:avLst>
          </a:prstGeom>
          <a:solidFill>
            <a:schemeClr val="accent1"/>
          </a:solidFill>
          <a:ln/>
        </p:spPr>
      </p:sp>
      <p:pic>
        <p:nvPicPr>
          <p:cNvPr id="16" name="Image 2" descr="Reviewer Approv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8712" y="1600200"/>
            <a:ext cx="457200" cy="457200"/>
          </a:xfrm>
          <a:prstGeom prst="rect">
            <a:avLst/>
          </a:prstGeom>
        </p:spPr>
      </p:pic>
      <p:sp>
        <p:nvSpPr>
          <p:cNvPr id="17" name="text-88"/>
          <p:cNvSpPr txBox="1"/>
          <p:nvPr/>
        </p:nvSpPr>
        <p:spPr>
          <a:xfrm>
            <a:off x="9464040" y="2148840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Reviewer Approves</a:t>
            </a:r>
            <a:endParaRPr lang="en-US" sz="1600" dirty="0"/>
          </a:p>
        </p:txBody>
      </p:sp>
      <p:sp>
        <p:nvSpPr>
          <p:cNvPr id="18" name="connector-89"/>
          <p:cNvSpPr/>
          <p:nvPr/>
        </p:nvSpPr>
        <p:spPr>
          <a:xfrm>
            <a:off x="10661904" y="3108960"/>
            <a:ext cx="0" cy="36576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19" name="connector-90"/>
          <p:cNvSpPr/>
          <p:nvPr/>
        </p:nvSpPr>
        <p:spPr>
          <a:xfrm>
            <a:off x="2194560" y="3474720"/>
            <a:ext cx="8467344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20" name="arrow-91"/>
          <p:cNvSpPr/>
          <p:nvPr/>
        </p:nvSpPr>
        <p:spPr>
          <a:xfrm>
            <a:off x="2194560" y="3474720"/>
            <a:ext cx="0" cy="36576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1" name="pill-92"/>
          <p:cNvSpPr txBox="1"/>
          <p:nvPr/>
        </p:nvSpPr>
        <p:spPr>
          <a:xfrm>
            <a:off x="5532120" y="3291840"/>
            <a:ext cx="173736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On Approval</a:t>
            </a:r>
            <a:endParaRPr lang="en-US" sz="1400" dirty="0"/>
          </a:p>
        </p:txBody>
      </p:sp>
      <p:sp>
        <p:nvSpPr>
          <p:cNvPr id="22" name="shape-93"/>
          <p:cNvSpPr/>
          <p:nvPr/>
        </p:nvSpPr>
        <p:spPr>
          <a:xfrm>
            <a:off x="548640" y="3840480"/>
            <a:ext cx="3291840" cy="1645920"/>
          </a:xfrm>
          <a:prstGeom prst="roundRect">
            <a:avLst>
              <a:gd name="adj" fmla="val 4444"/>
            </a:avLst>
          </a:prstGeom>
          <a:solidFill>
            <a:schemeClr val="accent1"/>
          </a:solidFill>
          <a:ln/>
        </p:spPr>
      </p:sp>
      <p:sp>
        <p:nvSpPr>
          <p:cNvPr id="23" name="text-94"/>
          <p:cNvSpPr txBox="1"/>
          <p:nvPr/>
        </p:nvSpPr>
        <p:spPr>
          <a:xfrm>
            <a:off x="777240" y="3977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SYSTEM CREATES</a:t>
            </a:r>
            <a:endParaRPr lang="en-US" sz="1100" dirty="0"/>
          </a:p>
        </p:txBody>
      </p:sp>
      <p:sp>
        <p:nvSpPr>
          <p:cNvPr id="24" name="text-95"/>
          <p:cNvSpPr txBox="1"/>
          <p:nvPr/>
        </p:nvSpPr>
        <p:spPr>
          <a:xfrm>
            <a:off x="777240" y="42976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PROD-WI-001 – Revision 2</a:t>
            </a:r>
            <a:endParaRPr lang="en-US" sz="2400" dirty="0"/>
          </a:p>
        </p:txBody>
      </p:sp>
      <p:sp>
        <p:nvSpPr>
          <p:cNvPr id="25" name="arrow-96"/>
          <p:cNvSpPr/>
          <p:nvPr/>
        </p:nvSpPr>
        <p:spPr>
          <a:xfrm>
            <a:off x="3858768" y="4663440"/>
            <a:ext cx="557784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6" name="shape-97"/>
          <p:cNvSpPr/>
          <p:nvPr/>
        </p:nvSpPr>
        <p:spPr>
          <a:xfrm>
            <a:off x="4434840" y="3840480"/>
            <a:ext cx="3291840" cy="164592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/>
        </p:spPr>
      </p:sp>
      <p:pic>
        <p:nvPicPr>
          <p:cNvPr id="27" name="Image 3" descr="Folder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3977640"/>
            <a:ext cx="457200" cy="457200"/>
          </a:xfrm>
          <a:prstGeom prst="rect">
            <a:avLst/>
          </a:prstGeom>
        </p:spPr>
      </p:pic>
      <p:sp>
        <p:nvSpPr>
          <p:cNvPr id="28" name="text-98"/>
          <p:cNvSpPr txBox="1"/>
          <p:nvPr/>
        </p:nvSpPr>
        <p:spPr>
          <a:xfrm>
            <a:off x="4572000" y="45262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Save approved document in ISO Folder → Correct Department</a:t>
            </a:r>
            <a:endParaRPr lang="en-US" sz="1600" dirty="0"/>
          </a:p>
        </p:txBody>
      </p:sp>
      <p:sp>
        <p:nvSpPr>
          <p:cNvPr id="29" name="arrow-99"/>
          <p:cNvSpPr/>
          <p:nvPr/>
        </p:nvSpPr>
        <p:spPr>
          <a:xfrm>
            <a:off x="7744968" y="4663440"/>
            <a:ext cx="557784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0" name="shape-100"/>
          <p:cNvSpPr/>
          <p:nvPr/>
        </p:nvSpPr>
        <p:spPr>
          <a:xfrm>
            <a:off x="8321040" y="3840480"/>
            <a:ext cx="3291840" cy="164592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/>
        </p:spPr>
      </p:sp>
      <p:pic>
        <p:nvPicPr>
          <p:cNvPr id="31" name="Image 4" descr="Tabl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8360" y="3977640"/>
            <a:ext cx="457200" cy="457200"/>
          </a:xfrm>
          <a:prstGeom prst="rect">
            <a:avLst/>
          </a:prstGeom>
        </p:spPr>
      </p:pic>
      <p:sp>
        <p:nvSpPr>
          <p:cNvPr id="32" name="text-101"/>
          <p:cNvSpPr txBox="1"/>
          <p:nvPr/>
        </p:nvSpPr>
        <p:spPr>
          <a:xfrm>
            <a:off x="8458200" y="45262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Update Master Table</a:t>
            </a:r>
            <a:endParaRPr lang="en-US" sz="1600" dirty="0"/>
          </a:p>
        </p:txBody>
      </p:sp>
      <p:sp>
        <p:nvSpPr>
          <p:cNvPr id="33" name="text-102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Same Document No., next Revision: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PROD-WI-001 Rev 1 → Rev 2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Approval Process</a:t>
            </a:r>
            <a:endParaRPr lang="en-US" sz="3600" dirty="0"/>
          </a:p>
        </p:txBody>
      </p:sp>
      <p:sp>
        <p:nvSpPr>
          <p:cNvPr id="3" name="shape-103"/>
          <p:cNvSpPr/>
          <p:nvPr/>
        </p:nvSpPr>
        <p:spPr>
          <a:xfrm>
            <a:off x="548640" y="1463040"/>
            <a:ext cx="4206240" cy="4663440"/>
          </a:xfrm>
          <a:prstGeom prst="roundRect">
            <a:avLst>
              <a:gd name="adj" fmla="val 2174"/>
            </a:avLst>
          </a:prstGeom>
          <a:solidFill>
            <a:schemeClr val="bg2"/>
          </a:solidFill>
          <a:ln/>
        </p:spPr>
      </p:sp>
      <p:sp>
        <p:nvSpPr>
          <p:cNvPr id="4" name="circle-104"/>
          <p:cNvSpPr/>
          <p:nvPr/>
        </p:nvSpPr>
        <p:spPr>
          <a:xfrm>
            <a:off x="868680" y="173736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mage 0" descr="Search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1890979"/>
            <a:ext cx="332842" cy="332842"/>
          </a:xfrm>
          <a:prstGeom prst="rect">
            <a:avLst/>
          </a:prstGeom>
        </p:spPr>
      </p:pic>
      <p:sp>
        <p:nvSpPr>
          <p:cNvPr id="6" name="text-105"/>
          <p:cNvSpPr txBox="1"/>
          <p:nvPr/>
        </p:nvSpPr>
        <p:spPr>
          <a:xfrm>
            <a:off x="1691640" y="1737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Reviewer checks</a:t>
            </a:r>
            <a:endParaRPr lang="en-US" sz="2200" dirty="0"/>
          </a:p>
        </p:txBody>
      </p:sp>
      <p:pic>
        <p:nvPicPr>
          <p:cNvPr id="7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788920"/>
            <a:ext cx="274320" cy="274320"/>
          </a:xfrm>
          <a:prstGeom prst="rect">
            <a:avLst/>
          </a:prstGeom>
        </p:spPr>
      </p:pic>
      <p:sp>
        <p:nvSpPr>
          <p:cNvPr id="8" name="text-106"/>
          <p:cNvSpPr txBox="1"/>
          <p:nvPr/>
        </p:nvSpPr>
        <p:spPr>
          <a:xfrm>
            <a:off x="1325880" y="2697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Department</a:t>
            </a:r>
            <a:endParaRPr lang="en-US" sz="1700" dirty="0"/>
          </a:p>
        </p:txBody>
      </p:sp>
      <p:pic>
        <p:nvPicPr>
          <p:cNvPr id="9" name="Image 2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337560"/>
            <a:ext cx="274320" cy="274320"/>
          </a:xfrm>
          <a:prstGeom prst="rect">
            <a:avLst/>
          </a:prstGeom>
        </p:spPr>
      </p:pic>
      <p:sp>
        <p:nvSpPr>
          <p:cNvPr id="10" name="text-107"/>
          <p:cNvSpPr txBox="1"/>
          <p:nvPr/>
        </p:nvSpPr>
        <p:spPr>
          <a:xfrm>
            <a:off x="1325880" y="3246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Document details</a:t>
            </a:r>
            <a:endParaRPr lang="en-US" sz="1700" dirty="0"/>
          </a:p>
        </p:txBody>
      </p:sp>
      <p:pic>
        <p:nvPicPr>
          <p:cNvPr id="11" name="Image 3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886200"/>
            <a:ext cx="274320" cy="274320"/>
          </a:xfrm>
          <a:prstGeom prst="rect">
            <a:avLst/>
          </a:prstGeom>
        </p:spPr>
      </p:pic>
      <p:sp>
        <p:nvSpPr>
          <p:cNvPr id="12" name="text-108"/>
          <p:cNvSpPr txBox="1"/>
          <p:nvPr/>
        </p:nvSpPr>
        <p:spPr>
          <a:xfrm>
            <a:off x="1325880" y="3794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Reason for change</a:t>
            </a:r>
            <a:endParaRPr lang="en-US" sz="1700" dirty="0"/>
          </a:p>
        </p:txBody>
      </p:sp>
      <p:pic>
        <p:nvPicPr>
          <p:cNvPr id="13" name="Image 4" descr="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434840"/>
            <a:ext cx="274320" cy="274320"/>
          </a:xfrm>
          <a:prstGeom prst="rect">
            <a:avLst/>
          </a:prstGeom>
        </p:spPr>
      </p:pic>
      <p:sp>
        <p:nvSpPr>
          <p:cNvPr id="14" name="text-109"/>
          <p:cNvSpPr txBox="1"/>
          <p:nvPr/>
        </p:nvSpPr>
        <p:spPr>
          <a:xfrm>
            <a:off x="1325880" y="4343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Uploaded document</a:t>
            </a:r>
            <a:endParaRPr lang="en-US" sz="1700" dirty="0"/>
          </a:p>
        </p:txBody>
      </p:sp>
      <p:pic>
        <p:nvPicPr>
          <p:cNvPr id="15" name="Image 5" descr="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983480"/>
            <a:ext cx="274320" cy="274320"/>
          </a:xfrm>
          <a:prstGeom prst="rect">
            <a:avLst/>
          </a:prstGeom>
        </p:spPr>
      </p:pic>
      <p:sp>
        <p:nvSpPr>
          <p:cNvPr id="16" name="text-110"/>
          <p:cNvSpPr txBox="1"/>
          <p:nvPr/>
        </p:nvSpPr>
        <p:spPr>
          <a:xfrm>
            <a:off x="1325880" y="4892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Page count</a:t>
            </a:r>
            <a:endParaRPr lang="en-US" sz="1700" dirty="0"/>
          </a:p>
        </p:txBody>
      </p:sp>
      <p:pic>
        <p:nvPicPr>
          <p:cNvPr id="17" name="Image 6" descr="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532120"/>
            <a:ext cx="274320" cy="274320"/>
          </a:xfrm>
          <a:prstGeom prst="rect">
            <a:avLst/>
          </a:prstGeom>
        </p:spPr>
      </p:pic>
      <p:sp>
        <p:nvSpPr>
          <p:cNvPr id="18" name="text-111"/>
          <p:cNvSpPr txBox="1"/>
          <p:nvPr/>
        </p:nvSpPr>
        <p:spPr>
          <a:xfrm>
            <a:off x="1325880" y="5440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Other required information</a:t>
            </a:r>
            <a:endParaRPr lang="en-US" sz="1700" dirty="0"/>
          </a:p>
        </p:txBody>
      </p:sp>
      <p:sp>
        <p:nvSpPr>
          <p:cNvPr id="19" name="shape-112"/>
          <p:cNvSpPr/>
          <p:nvPr/>
        </p:nvSpPr>
        <p:spPr>
          <a:xfrm>
            <a:off x="5120640" y="1463040"/>
            <a:ext cx="649224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20" name="circle-113"/>
          <p:cNvSpPr/>
          <p:nvPr/>
        </p:nvSpPr>
        <p:spPr>
          <a:xfrm>
            <a:off x="5440680" y="17830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mage 7" descr="Check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6245" y="1958645"/>
            <a:ext cx="380390" cy="380390"/>
          </a:xfrm>
          <a:prstGeom prst="rect">
            <a:avLst/>
          </a:prstGeom>
        </p:spPr>
      </p:pic>
      <p:sp>
        <p:nvSpPr>
          <p:cNvPr id="22" name="text-114"/>
          <p:cNvSpPr txBox="1"/>
          <p:nvPr/>
        </p:nvSpPr>
        <p:spPr>
          <a:xfrm>
            <a:off x="6400800" y="1783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Approve</a:t>
            </a:r>
            <a:endParaRPr lang="en-US" sz="2400" dirty="0"/>
          </a:p>
        </p:txBody>
      </p:sp>
      <p:sp>
        <p:nvSpPr>
          <p:cNvPr id="23" name="text-115"/>
          <p:cNvSpPr txBox="1"/>
          <p:nvPr/>
        </p:nvSpPr>
        <p:spPr>
          <a:xfrm>
            <a:off x="6400800" y="22860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→ Continue document update process</a:t>
            </a:r>
            <a:endParaRPr lang="en-US" sz="1800" dirty="0"/>
          </a:p>
        </p:txBody>
      </p:sp>
      <p:sp>
        <p:nvSpPr>
          <p:cNvPr id="24" name="shape-116"/>
          <p:cNvSpPr/>
          <p:nvPr/>
        </p:nvSpPr>
        <p:spPr>
          <a:xfrm>
            <a:off x="5120640" y="3474720"/>
            <a:ext cx="6492240" cy="265176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/>
        </p:spPr>
      </p:sp>
      <p:sp>
        <p:nvSpPr>
          <p:cNvPr id="25" name="circle-117"/>
          <p:cNvSpPr/>
          <p:nvPr/>
        </p:nvSpPr>
        <p:spPr>
          <a:xfrm>
            <a:off x="5440680" y="379476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6" name="Image 8" descr="Times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6245" y="3970325"/>
            <a:ext cx="380390" cy="380390"/>
          </a:xfrm>
          <a:prstGeom prst="rect">
            <a:avLst/>
          </a:prstGeom>
        </p:spPr>
      </p:pic>
      <p:sp>
        <p:nvSpPr>
          <p:cNvPr id="27" name="text-118"/>
          <p:cNvSpPr txBox="1"/>
          <p:nvPr/>
        </p:nvSpPr>
        <p:spPr>
          <a:xfrm>
            <a:off x="6400800" y="3794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Reject</a:t>
            </a:r>
            <a:endParaRPr lang="en-US" sz="2400" dirty="0"/>
          </a:p>
        </p:txBody>
      </p:sp>
      <p:sp>
        <p:nvSpPr>
          <p:cNvPr id="28" name="text-119"/>
          <p:cNvSpPr txBox="1"/>
          <p:nvPr/>
        </p:nvSpPr>
        <p:spPr>
          <a:xfrm>
            <a:off x="6400800" y="434340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Enter rejection reason</a:t>
            </a:r>
            <a:endParaRPr lang="en-US" sz="17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DCR closed</a:t>
            </a:r>
            <a:endParaRPr lang="en-US" sz="17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Master Table remains unchanged</a:t>
            </a:r>
            <a:endParaRPr lang="en-US" sz="17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Document is not published as an approved document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Three Actions Happen After Approval</a:t>
            </a:r>
            <a:endParaRPr lang="en-US" sz="3600" dirty="0"/>
          </a:p>
        </p:txBody>
      </p:sp>
      <p:sp>
        <p:nvSpPr>
          <p:cNvPr id="3" name="shape-120"/>
          <p:cNvSpPr/>
          <p:nvPr/>
        </p:nvSpPr>
        <p:spPr>
          <a:xfrm>
            <a:off x="548640" y="1463040"/>
            <a:ext cx="3520440" cy="466344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</p:sp>
      <p:sp>
        <p:nvSpPr>
          <p:cNvPr id="4" name="circle-121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mage 0" descr="SyncAl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912925"/>
            <a:ext cx="380390" cy="380390"/>
          </a:xfrm>
          <a:prstGeom prst="rect">
            <a:avLst/>
          </a:prstGeom>
        </p:spPr>
      </p:pic>
      <p:sp>
        <p:nvSpPr>
          <p:cNvPr id="6" name="text-122"/>
          <p:cNvSpPr txBox="1"/>
          <p:nvPr/>
        </p:nvSpPr>
        <p:spPr>
          <a:xfrm>
            <a:off x="1737360" y="1737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ACTION 1</a:t>
            </a:r>
            <a:endParaRPr lang="en-US" sz="1100" dirty="0"/>
          </a:p>
        </p:txBody>
      </p:sp>
      <p:sp>
        <p:nvSpPr>
          <p:cNvPr id="7" name="text-123"/>
          <p:cNvSpPr txBox="1"/>
          <p:nvPr/>
        </p:nvSpPr>
        <p:spPr>
          <a:xfrm>
            <a:off x="1737360" y="2011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Revision / Document Number</a:t>
            </a:r>
            <a:endParaRPr lang="en-US" sz="1800" dirty="0"/>
          </a:p>
        </p:txBody>
      </p:sp>
      <p:sp>
        <p:nvSpPr>
          <p:cNvPr id="8" name="shape-124"/>
          <p:cNvSpPr/>
          <p:nvPr/>
        </p:nvSpPr>
        <p:spPr>
          <a:xfrm>
            <a:off x="4343400" y="1463040"/>
            <a:ext cx="3520440" cy="466344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</p:sp>
      <p:sp>
        <p:nvSpPr>
          <p:cNvPr id="9" name="circle-125"/>
          <p:cNvSpPr/>
          <p:nvPr/>
        </p:nvSpPr>
        <p:spPr>
          <a:xfrm>
            <a:off x="4617720" y="173736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Image 1" descr="FolderOpen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285" y="1912925"/>
            <a:ext cx="380390" cy="380390"/>
          </a:xfrm>
          <a:prstGeom prst="rect">
            <a:avLst/>
          </a:prstGeom>
        </p:spPr>
      </p:pic>
      <p:sp>
        <p:nvSpPr>
          <p:cNvPr id="11" name="text-126"/>
          <p:cNvSpPr txBox="1"/>
          <p:nvPr/>
        </p:nvSpPr>
        <p:spPr>
          <a:xfrm>
            <a:off x="5532120" y="1737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ACTION 2</a:t>
            </a:r>
            <a:endParaRPr lang="en-US" sz="1100" dirty="0"/>
          </a:p>
        </p:txBody>
      </p:sp>
      <p:sp>
        <p:nvSpPr>
          <p:cNvPr id="12" name="text-127"/>
          <p:cNvSpPr txBox="1"/>
          <p:nvPr/>
        </p:nvSpPr>
        <p:spPr>
          <a:xfrm>
            <a:off x="5532120" y="2011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ISO Folder Storage</a:t>
            </a:r>
            <a:endParaRPr lang="en-US" sz="1800" dirty="0"/>
          </a:p>
        </p:txBody>
      </p:sp>
      <p:sp>
        <p:nvSpPr>
          <p:cNvPr id="13" name="shape-128"/>
          <p:cNvSpPr/>
          <p:nvPr/>
        </p:nvSpPr>
        <p:spPr>
          <a:xfrm>
            <a:off x="8138160" y="1463040"/>
            <a:ext cx="3520440" cy="466344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</p:sp>
      <p:sp>
        <p:nvSpPr>
          <p:cNvPr id="14" name="circle-129"/>
          <p:cNvSpPr/>
          <p:nvPr/>
        </p:nvSpPr>
        <p:spPr>
          <a:xfrm>
            <a:off x="8412480" y="173736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Image 2" descr="Tabl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8045" y="1912925"/>
            <a:ext cx="380390" cy="380390"/>
          </a:xfrm>
          <a:prstGeom prst="rect">
            <a:avLst/>
          </a:prstGeom>
        </p:spPr>
      </p:pic>
      <p:sp>
        <p:nvSpPr>
          <p:cNvPr id="16" name="text-130"/>
          <p:cNvSpPr txBox="1"/>
          <p:nvPr/>
        </p:nvSpPr>
        <p:spPr>
          <a:xfrm>
            <a:off x="9326880" y="1737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ACTION 3</a:t>
            </a:r>
            <a:endParaRPr lang="en-US" sz="1100" dirty="0"/>
          </a:p>
        </p:txBody>
      </p:sp>
      <p:sp>
        <p:nvSpPr>
          <p:cNvPr id="17" name="text-131"/>
          <p:cNvSpPr txBox="1"/>
          <p:nvPr/>
        </p:nvSpPr>
        <p:spPr>
          <a:xfrm>
            <a:off x="9326880" y="2011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Master Table Update</a:t>
            </a:r>
            <a:endParaRPr lang="en-US" sz="1800" dirty="0"/>
          </a:p>
        </p:txBody>
      </p:sp>
      <p:sp>
        <p:nvSpPr>
          <p:cNvPr id="18" name="text-132"/>
          <p:cNvSpPr txBox="1"/>
          <p:nvPr/>
        </p:nvSpPr>
        <p:spPr>
          <a:xfrm>
            <a:off x="914400" y="288036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New document → assign new Document No.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Existing document → create next Revision</a:t>
            </a:r>
            <a:endParaRPr lang="en-US" sz="1600" dirty="0"/>
          </a:p>
        </p:txBody>
      </p:sp>
      <p:sp>
        <p:nvSpPr>
          <p:cNvPr id="19" name="chip-133"/>
          <p:cNvSpPr txBox="1"/>
          <p:nvPr/>
        </p:nvSpPr>
        <p:spPr>
          <a:xfrm>
            <a:off x="822960" y="4526280"/>
            <a:ext cx="278892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New: PROD-WI-002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Rev 1</a:t>
            </a:r>
            <a:endParaRPr lang="en-US" sz="1500" dirty="0"/>
          </a:p>
        </p:txBody>
      </p:sp>
      <p:sp>
        <p:nvSpPr>
          <p:cNvPr id="20" name="chip-134"/>
          <p:cNvSpPr txBox="1"/>
          <p:nvPr/>
        </p:nvSpPr>
        <p:spPr>
          <a:xfrm>
            <a:off x="822960" y="5349240"/>
            <a:ext cx="278892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Existing: PROD-WI-001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Rev 1 → Rev 2</a:t>
            </a:r>
            <a:endParaRPr lang="en-US" sz="1500" dirty="0"/>
          </a:p>
        </p:txBody>
      </p:sp>
      <p:sp>
        <p:nvSpPr>
          <p:cNvPr id="21" name="text-135"/>
          <p:cNvSpPr txBox="1"/>
          <p:nvPr/>
        </p:nvSpPr>
        <p:spPr>
          <a:xfrm>
            <a:off x="4709160" y="28803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Approved document is saved automatically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 the correct ISO and Department folder</a:t>
            </a:r>
            <a:endParaRPr lang="en-US" sz="1600" dirty="0"/>
          </a:p>
        </p:txBody>
      </p:sp>
      <p:sp>
        <p:nvSpPr>
          <p:cNvPr id="22" name="shape-136"/>
          <p:cNvSpPr/>
          <p:nvPr/>
        </p:nvSpPr>
        <p:spPr>
          <a:xfrm>
            <a:off x="4617720" y="4160520"/>
            <a:ext cx="2971800" cy="356616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/>
        </p:spPr>
      </p:sp>
      <p:sp>
        <p:nvSpPr>
          <p:cNvPr id="23" name="text-137"/>
          <p:cNvSpPr txBox="1"/>
          <p:nvPr/>
        </p:nvSpPr>
        <p:spPr>
          <a:xfrm>
            <a:off x="4727448" y="4160520"/>
            <a:ext cx="2788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ISO Folder</a:t>
            </a:r>
            <a:endParaRPr lang="en-US" sz="1400" dirty="0"/>
          </a:p>
        </p:txBody>
      </p:sp>
      <p:sp>
        <p:nvSpPr>
          <p:cNvPr id="24" name="shape-138"/>
          <p:cNvSpPr/>
          <p:nvPr/>
        </p:nvSpPr>
        <p:spPr>
          <a:xfrm>
            <a:off x="4846320" y="4590288"/>
            <a:ext cx="2743200" cy="356616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/>
        </p:spPr>
      </p:sp>
      <p:sp>
        <p:nvSpPr>
          <p:cNvPr id="25" name="text-139"/>
          <p:cNvSpPr txBox="1"/>
          <p:nvPr/>
        </p:nvSpPr>
        <p:spPr>
          <a:xfrm>
            <a:off x="4956048" y="4590288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Production</a:t>
            </a:r>
            <a:endParaRPr lang="en-US" sz="1400" dirty="0"/>
          </a:p>
        </p:txBody>
      </p:sp>
      <p:sp>
        <p:nvSpPr>
          <p:cNvPr id="26" name="shape-140"/>
          <p:cNvSpPr/>
          <p:nvPr/>
        </p:nvSpPr>
        <p:spPr>
          <a:xfrm>
            <a:off x="5074920" y="5020056"/>
            <a:ext cx="2514600" cy="356616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/>
        </p:spPr>
      </p:sp>
      <p:sp>
        <p:nvSpPr>
          <p:cNvPr id="27" name="text-141"/>
          <p:cNvSpPr txBox="1"/>
          <p:nvPr/>
        </p:nvSpPr>
        <p:spPr>
          <a:xfrm>
            <a:off x="5184648" y="5020056"/>
            <a:ext cx="2331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Work Instructions</a:t>
            </a:r>
            <a:endParaRPr lang="en-US" sz="1400" dirty="0"/>
          </a:p>
        </p:txBody>
      </p:sp>
      <p:sp>
        <p:nvSpPr>
          <p:cNvPr id="28" name="shape-142"/>
          <p:cNvSpPr/>
          <p:nvPr/>
        </p:nvSpPr>
        <p:spPr>
          <a:xfrm>
            <a:off x="5303520" y="5449824"/>
            <a:ext cx="2286000" cy="356616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</p:sp>
      <p:sp>
        <p:nvSpPr>
          <p:cNvPr id="29" name="text-143"/>
          <p:cNvSpPr txBox="1"/>
          <p:nvPr/>
        </p:nvSpPr>
        <p:spPr>
          <a:xfrm>
            <a:off x="5413248" y="5449824"/>
            <a:ext cx="2103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PROD-WI-001 Rev 2</a:t>
            </a:r>
            <a:endParaRPr lang="en-US" sz="1400" dirty="0"/>
          </a:p>
        </p:txBody>
      </p:sp>
      <p:pic>
        <p:nvPicPr>
          <p:cNvPr id="30" name="Image 3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3017520"/>
            <a:ext cx="274320" cy="274320"/>
          </a:xfrm>
          <a:prstGeom prst="rect">
            <a:avLst/>
          </a:prstGeom>
        </p:spPr>
      </p:pic>
      <p:sp>
        <p:nvSpPr>
          <p:cNvPr id="31" name="text-144"/>
          <p:cNvSpPr txBox="1"/>
          <p:nvPr/>
        </p:nvSpPr>
        <p:spPr>
          <a:xfrm>
            <a:off x="8961120" y="2926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Document Number</a:t>
            </a:r>
            <a:endParaRPr lang="en-US" sz="1700" dirty="0"/>
          </a:p>
        </p:txBody>
      </p:sp>
      <p:pic>
        <p:nvPicPr>
          <p:cNvPr id="32" name="Image 4" descr="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3584448"/>
            <a:ext cx="274320" cy="274320"/>
          </a:xfrm>
          <a:prstGeom prst="rect">
            <a:avLst/>
          </a:prstGeom>
        </p:spPr>
      </p:pic>
      <p:sp>
        <p:nvSpPr>
          <p:cNvPr id="33" name="text-145"/>
          <p:cNvSpPr txBox="1"/>
          <p:nvPr/>
        </p:nvSpPr>
        <p:spPr>
          <a:xfrm>
            <a:off x="8961120" y="34930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Revision</a:t>
            </a:r>
            <a:endParaRPr lang="en-US" sz="1700" dirty="0"/>
          </a:p>
        </p:txBody>
      </p:sp>
      <p:pic>
        <p:nvPicPr>
          <p:cNvPr id="34" name="Image 5" descr="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4151376"/>
            <a:ext cx="274320" cy="274320"/>
          </a:xfrm>
          <a:prstGeom prst="rect">
            <a:avLst/>
          </a:prstGeom>
        </p:spPr>
      </p:pic>
      <p:sp>
        <p:nvSpPr>
          <p:cNvPr id="35" name="text-146"/>
          <p:cNvSpPr txBox="1"/>
          <p:nvPr/>
        </p:nvSpPr>
        <p:spPr>
          <a:xfrm>
            <a:off x="8961120" y="405993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Page Count</a:t>
            </a:r>
            <a:endParaRPr lang="en-US" sz="1700" dirty="0"/>
          </a:p>
        </p:txBody>
      </p:sp>
      <p:pic>
        <p:nvPicPr>
          <p:cNvPr id="36" name="Image 6" descr="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20" y="4718304"/>
            <a:ext cx="274320" cy="274320"/>
          </a:xfrm>
          <a:prstGeom prst="rect">
            <a:avLst/>
          </a:prstGeom>
        </p:spPr>
      </p:pic>
      <p:sp>
        <p:nvSpPr>
          <p:cNvPr id="37" name="text-147"/>
          <p:cNvSpPr txBox="1"/>
          <p:nvPr/>
        </p:nvSpPr>
        <p:spPr>
          <a:xfrm>
            <a:off x="8961120" y="46268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Revision Date</a:t>
            </a:r>
            <a:endParaRPr lang="en-US" sz="1700" dirty="0"/>
          </a:p>
        </p:txBody>
      </p:sp>
      <p:pic>
        <p:nvPicPr>
          <p:cNvPr id="38" name="Image 7" descr="check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0" y="5285232"/>
            <a:ext cx="274320" cy="274320"/>
          </a:xfrm>
          <a:prstGeom prst="rect">
            <a:avLst/>
          </a:prstGeom>
        </p:spPr>
      </p:pic>
      <p:sp>
        <p:nvSpPr>
          <p:cNvPr id="39" name="text-148"/>
          <p:cNvSpPr txBox="1"/>
          <p:nvPr/>
        </p:nvSpPr>
        <p:spPr>
          <a:xfrm>
            <a:off x="8961120" y="51937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Status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Master Table Example</a:t>
            </a:r>
            <a:endParaRPr lang="en-US" sz="3600" dirty="0"/>
          </a:p>
        </p:txBody>
      </p:sp>
      <p:sp>
        <p:nvSpPr>
          <p:cNvPr id="3" name="text-149"/>
          <p:cNvSpPr txBox="1"/>
          <p:nvPr/>
        </p:nvSpPr>
        <p:spPr>
          <a:xfrm>
            <a:off x="548640" y="13716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Existing document – after approval</a:t>
            </a:r>
            <a:endParaRPr lang="en-US" sz="1800" dirty="0"/>
          </a:p>
        </p:txBody>
      </p:sp>
      <p:graphicFrame>
        <p:nvGraphicFramePr>
          <p:cNvPr id="9" name="table-1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91440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097280"/>
                <a:gridCol w="822960"/>
                <a:gridCol w="192024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Document No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Revision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Pages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Revision Date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PROD-WI-001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05-03-2026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5"/>
                          </a:solidFill>
                        </a:rPr>
                        <a:t>Superseded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PROD-WI-001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08-10-2026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Current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-151"/>
          <p:cNvSpPr txBox="1"/>
          <p:nvPr/>
        </p:nvSpPr>
        <p:spPr>
          <a:xfrm>
            <a:off x="548640" y="35204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New document</a:t>
            </a:r>
            <a:endParaRPr lang="en-US" sz="1800" dirty="0"/>
          </a:p>
        </p:txBody>
      </p:sp>
      <p:graphicFrame>
        <p:nvGraphicFramePr>
          <p:cNvPr id="17" name="table-1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91440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097280"/>
                <a:gridCol w="822960"/>
                <a:gridCol w="192024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Document No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Revision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Pages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Revision Date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PROD-WI-002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08-10-2026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Current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-153"/>
          <p:cNvSpPr/>
          <p:nvPr/>
        </p:nvSpPr>
        <p:spPr>
          <a:xfrm>
            <a:off x="8366760" y="1783080"/>
            <a:ext cx="3246120" cy="3063240"/>
          </a:xfrm>
          <a:prstGeom prst="roundRect">
            <a:avLst>
              <a:gd name="adj" fmla="val 2985"/>
            </a:avLst>
          </a:prstGeom>
          <a:solidFill>
            <a:schemeClr val="tx2"/>
          </a:solidFill>
          <a:ln/>
        </p:spPr>
      </p:sp>
      <p:pic>
        <p:nvPicPr>
          <p:cNvPr id="8" name="Image 0" descr="Tab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2011680"/>
            <a:ext cx="502920" cy="502920"/>
          </a:xfrm>
          <a:prstGeom prst="rect">
            <a:avLst/>
          </a:prstGeom>
        </p:spPr>
      </p:pic>
      <p:sp>
        <p:nvSpPr>
          <p:cNvPr id="9" name="text-154"/>
          <p:cNvSpPr txBox="1"/>
          <p:nvPr/>
        </p:nvSpPr>
        <p:spPr>
          <a:xfrm>
            <a:off x="8686800" y="269748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bg1"/>
                </a:solidFill>
              </a:rPr>
              <a:t>The Document Number remains the same.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The Revision, Pages, Date and Status are updated after approval.</a:t>
            </a:r>
            <a:endParaRPr lang="en-US" sz="1600" dirty="0"/>
          </a:p>
        </p:txBody>
      </p:sp>
      <p:sp>
        <p:nvSpPr>
          <p:cNvPr id="10" name="pill-155"/>
          <p:cNvSpPr txBox="1"/>
          <p:nvPr/>
        </p:nvSpPr>
        <p:spPr>
          <a:xfrm>
            <a:off x="548640" y="5349240"/>
            <a:ext cx="1280160" cy="384048"/>
          </a:xfrm>
          <a:prstGeom prst="roundRect">
            <a:avLst>
              <a:gd name="adj" fmla="val 4761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Current</a:t>
            </a:r>
            <a:endParaRPr lang="en-US" sz="1400" dirty="0"/>
          </a:p>
        </p:txBody>
      </p:sp>
      <p:sp>
        <p:nvSpPr>
          <p:cNvPr id="11" name="pill-156"/>
          <p:cNvSpPr txBox="1"/>
          <p:nvPr/>
        </p:nvSpPr>
        <p:spPr>
          <a:xfrm>
            <a:off x="1965960" y="5349240"/>
            <a:ext cx="1463040" cy="384048"/>
          </a:xfrm>
          <a:prstGeom prst="roundRect">
            <a:avLst>
              <a:gd name="adj" fmla="val 47619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Superseded</a:t>
            </a:r>
            <a:endParaRPr lang="en-US" sz="1400" dirty="0"/>
          </a:p>
        </p:txBody>
      </p:sp>
      <p:sp>
        <p:nvSpPr>
          <p:cNvPr id="12" name="text-157"/>
          <p:cNvSpPr txBox="1"/>
          <p:nvPr/>
        </p:nvSpPr>
        <p:spPr>
          <a:xfrm>
            <a:off x="3657600" y="53492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Previous revisions stay in the table as history.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Complete DCR Workflow</a:t>
            </a:r>
            <a:endParaRPr lang="en-US" sz="3600" dirty="0"/>
          </a:p>
        </p:txBody>
      </p:sp>
      <p:sp>
        <p:nvSpPr>
          <p:cNvPr id="3" name="step-158"/>
          <p:cNvSpPr txBox="1"/>
          <p:nvPr/>
        </p:nvSpPr>
        <p:spPr>
          <a:xfrm>
            <a:off x="548640" y="1417320"/>
            <a:ext cx="18288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Employee Creates DCR</a:t>
            </a:r>
            <a:endParaRPr lang="en-US" sz="1500" dirty="0"/>
          </a:p>
        </p:txBody>
      </p:sp>
      <p:sp>
        <p:nvSpPr>
          <p:cNvPr id="4" name="arrow-159"/>
          <p:cNvSpPr/>
          <p:nvPr/>
        </p:nvSpPr>
        <p:spPr>
          <a:xfrm>
            <a:off x="2395728" y="1965960"/>
            <a:ext cx="448056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5" name="step-160"/>
          <p:cNvSpPr txBox="1"/>
          <p:nvPr/>
        </p:nvSpPr>
        <p:spPr>
          <a:xfrm>
            <a:off x="2862072" y="1417320"/>
            <a:ext cx="18288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New Document OR Existing Document</a:t>
            </a:r>
            <a:endParaRPr lang="en-US" sz="1500" dirty="0"/>
          </a:p>
        </p:txBody>
      </p:sp>
      <p:sp>
        <p:nvSpPr>
          <p:cNvPr id="6" name="arrow-161"/>
          <p:cNvSpPr/>
          <p:nvPr/>
        </p:nvSpPr>
        <p:spPr>
          <a:xfrm>
            <a:off x="4709160" y="1965960"/>
            <a:ext cx="448056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step-162"/>
          <p:cNvSpPr txBox="1"/>
          <p:nvPr/>
        </p:nvSpPr>
        <p:spPr>
          <a:xfrm>
            <a:off x="5175504" y="1417320"/>
            <a:ext cx="18288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Upload Document &amp; Submit</a:t>
            </a:r>
            <a:endParaRPr lang="en-US" sz="1500" dirty="0"/>
          </a:p>
        </p:txBody>
      </p:sp>
      <p:sp>
        <p:nvSpPr>
          <p:cNvPr id="8" name="arrow-163"/>
          <p:cNvSpPr/>
          <p:nvPr/>
        </p:nvSpPr>
        <p:spPr>
          <a:xfrm>
            <a:off x="7022592" y="1965960"/>
            <a:ext cx="448056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step-164"/>
          <p:cNvSpPr txBox="1"/>
          <p:nvPr/>
        </p:nvSpPr>
        <p:spPr>
          <a:xfrm>
            <a:off x="7488936" y="1417320"/>
            <a:ext cx="182880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Reviewer</a:t>
            </a:r>
            <a:endParaRPr lang="en-US" sz="1500" dirty="0"/>
          </a:p>
        </p:txBody>
      </p:sp>
      <p:sp>
        <p:nvSpPr>
          <p:cNvPr id="10" name="arrow-165"/>
          <p:cNvSpPr/>
          <p:nvPr/>
        </p:nvSpPr>
        <p:spPr>
          <a:xfrm>
            <a:off x="9336024" y="1965960"/>
            <a:ext cx="448056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step-166"/>
          <p:cNvSpPr txBox="1"/>
          <p:nvPr/>
        </p:nvSpPr>
        <p:spPr>
          <a:xfrm>
            <a:off x="9802368" y="1417320"/>
            <a:ext cx="1828800" cy="109728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Approve / Reject</a:t>
            </a:r>
            <a:endParaRPr lang="en-US" sz="1500" dirty="0"/>
          </a:p>
        </p:txBody>
      </p:sp>
      <p:sp>
        <p:nvSpPr>
          <p:cNvPr id="12" name="connector-167"/>
          <p:cNvSpPr/>
          <p:nvPr/>
        </p:nvSpPr>
        <p:spPr>
          <a:xfrm>
            <a:off x="10716768" y="2514600"/>
            <a:ext cx="0" cy="41148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</a:ln>
        </p:spPr>
      </p:sp>
      <p:sp>
        <p:nvSpPr>
          <p:cNvPr id="13" name="connector-168"/>
          <p:cNvSpPr/>
          <p:nvPr/>
        </p:nvSpPr>
        <p:spPr>
          <a:xfrm>
            <a:off x="2651760" y="2926080"/>
            <a:ext cx="8065008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</a:ln>
        </p:spPr>
      </p:sp>
      <p:sp>
        <p:nvSpPr>
          <p:cNvPr id="14" name="arrow-169"/>
          <p:cNvSpPr/>
          <p:nvPr/>
        </p:nvSpPr>
        <p:spPr>
          <a:xfrm>
            <a:off x="2651760" y="2926080"/>
            <a:ext cx="0" cy="41148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5" name="arrow-170"/>
          <p:cNvSpPr/>
          <p:nvPr/>
        </p:nvSpPr>
        <p:spPr>
          <a:xfrm>
            <a:off x="8321040" y="2926080"/>
            <a:ext cx="0" cy="41148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6" name="shape-171"/>
          <p:cNvSpPr/>
          <p:nvPr/>
        </p:nvSpPr>
        <p:spPr>
          <a:xfrm>
            <a:off x="548640" y="3337560"/>
            <a:ext cx="4206240" cy="283464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/>
        </p:spPr>
      </p:sp>
      <p:pic>
        <p:nvPicPr>
          <p:cNvPr id="17" name="Image 0" descr="Reject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520440"/>
            <a:ext cx="384048" cy="384048"/>
          </a:xfrm>
          <a:prstGeom prst="rect">
            <a:avLst/>
          </a:prstGeom>
        </p:spPr>
      </p:pic>
      <p:sp>
        <p:nvSpPr>
          <p:cNvPr id="18" name="text-172"/>
          <p:cNvSpPr txBox="1"/>
          <p:nvPr/>
        </p:nvSpPr>
        <p:spPr>
          <a:xfrm>
            <a:off x="1325880" y="35204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If Rejected</a:t>
            </a:r>
            <a:endParaRPr lang="en-US" sz="2000" dirty="0"/>
          </a:p>
        </p:txBody>
      </p:sp>
      <p:sp>
        <p:nvSpPr>
          <p:cNvPr id="19" name="text-173"/>
          <p:cNvSpPr txBox="1"/>
          <p:nvPr/>
        </p:nvSpPr>
        <p:spPr>
          <a:xfrm>
            <a:off x="868680" y="416052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Rejection Reason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DCR Closed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No Master Table Update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No Approved Document Storage</a:t>
            </a:r>
            <a:endParaRPr lang="en-US" sz="1700" dirty="0"/>
          </a:p>
        </p:txBody>
      </p:sp>
      <p:sp>
        <p:nvSpPr>
          <p:cNvPr id="20" name="shape-174"/>
          <p:cNvSpPr/>
          <p:nvPr/>
        </p:nvSpPr>
        <p:spPr>
          <a:xfrm>
            <a:off x="5029200" y="3337560"/>
            <a:ext cx="6583680" cy="283464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/>
        </p:spPr>
      </p:sp>
      <p:pic>
        <p:nvPicPr>
          <p:cNvPr id="21" name="Image 1" descr="Approv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520440"/>
            <a:ext cx="384048" cy="384048"/>
          </a:xfrm>
          <a:prstGeom prst="rect">
            <a:avLst/>
          </a:prstGeom>
        </p:spPr>
      </p:pic>
      <p:sp>
        <p:nvSpPr>
          <p:cNvPr id="22" name="text-175"/>
          <p:cNvSpPr txBox="1"/>
          <p:nvPr/>
        </p:nvSpPr>
        <p:spPr>
          <a:xfrm>
            <a:off x="5806440" y="35204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If Approved</a:t>
            </a:r>
            <a:endParaRPr lang="en-US" sz="2000" dirty="0"/>
          </a:p>
        </p:txBody>
      </p:sp>
      <p:sp>
        <p:nvSpPr>
          <p:cNvPr id="23" name="num-176"/>
          <p:cNvSpPr txBox="1"/>
          <p:nvPr/>
        </p:nvSpPr>
        <p:spPr>
          <a:xfrm>
            <a:off x="5303520" y="422452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4" name="text-177"/>
          <p:cNvSpPr txBox="1"/>
          <p:nvPr/>
        </p:nvSpPr>
        <p:spPr>
          <a:xfrm>
            <a:off x="5806440" y="4160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Document No. / New Revision</a:t>
            </a:r>
            <a:endParaRPr lang="en-US" sz="1500" dirty="0"/>
          </a:p>
        </p:txBody>
      </p:sp>
      <p:sp>
        <p:nvSpPr>
          <p:cNvPr id="25" name="num-178"/>
          <p:cNvSpPr txBox="1"/>
          <p:nvPr/>
        </p:nvSpPr>
        <p:spPr>
          <a:xfrm>
            <a:off x="5303520" y="488289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6" name="text-179"/>
          <p:cNvSpPr txBox="1"/>
          <p:nvPr/>
        </p:nvSpPr>
        <p:spPr>
          <a:xfrm>
            <a:off x="5806440" y="48188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Calculate Page Count</a:t>
            </a:r>
            <a:endParaRPr lang="en-US" sz="1500" dirty="0"/>
          </a:p>
        </p:txBody>
      </p:sp>
      <p:sp>
        <p:nvSpPr>
          <p:cNvPr id="27" name="num-180"/>
          <p:cNvSpPr txBox="1"/>
          <p:nvPr/>
        </p:nvSpPr>
        <p:spPr>
          <a:xfrm>
            <a:off x="5303520" y="5541264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-181"/>
          <p:cNvSpPr txBox="1"/>
          <p:nvPr/>
        </p:nvSpPr>
        <p:spPr>
          <a:xfrm>
            <a:off x="5806440" y="547725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Save to ISO Folder → Correct Department</a:t>
            </a:r>
            <a:endParaRPr lang="en-US" sz="1500" dirty="0"/>
          </a:p>
        </p:txBody>
      </p:sp>
      <p:sp>
        <p:nvSpPr>
          <p:cNvPr id="29" name="num-182"/>
          <p:cNvSpPr txBox="1"/>
          <p:nvPr/>
        </p:nvSpPr>
        <p:spPr>
          <a:xfrm>
            <a:off x="8458200" y="422452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text-183"/>
          <p:cNvSpPr txBox="1"/>
          <p:nvPr/>
        </p:nvSpPr>
        <p:spPr>
          <a:xfrm>
            <a:off x="8961120" y="4160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Update Master Table</a:t>
            </a:r>
            <a:endParaRPr lang="en-US" sz="1500" dirty="0"/>
          </a:p>
        </p:txBody>
      </p:sp>
      <p:sp>
        <p:nvSpPr>
          <p:cNvPr id="31" name="num-184"/>
          <p:cNvSpPr txBox="1"/>
          <p:nvPr/>
        </p:nvSpPr>
        <p:spPr>
          <a:xfrm>
            <a:off x="8458200" y="488289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-185"/>
          <p:cNvSpPr txBox="1"/>
          <p:nvPr/>
        </p:nvSpPr>
        <p:spPr>
          <a:xfrm>
            <a:off x="8961120" y="48188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Keep Previous Revision as History</a:t>
            </a:r>
            <a:endParaRPr lang="en-US" sz="1500" dirty="0"/>
          </a:p>
        </p:txBody>
      </p:sp>
      <p:sp>
        <p:nvSpPr>
          <p:cNvPr id="33" name="num-186"/>
          <p:cNvSpPr txBox="1"/>
          <p:nvPr/>
        </p:nvSpPr>
        <p:spPr>
          <a:xfrm>
            <a:off x="8458200" y="5541264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4" name="text-187"/>
          <p:cNvSpPr txBox="1"/>
          <p:nvPr/>
        </p:nvSpPr>
        <p:spPr>
          <a:xfrm>
            <a:off x="8961120" y="547725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DCR Completed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Benefits</a:t>
            </a:r>
            <a:endParaRPr lang="en-US" sz="3600" dirty="0"/>
          </a:p>
        </p:txBody>
      </p:sp>
      <p:sp>
        <p:nvSpPr>
          <p:cNvPr id="3" name="shape-188"/>
          <p:cNvSpPr/>
          <p:nvPr/>
        </p:nvSpPr>
        <p:spPr>
          <a:xfrm>
            <a:off x="548640" y="1417320"/>
            <a:ext cx="5440680" cy="530352"/>
          </a:xfrm>
          <a:prstGeom prst="roundRect">
            <a:avLst>
              <a:gd name="adj" fmla="val 13793"/>
            </a:avLst>
          </a:prstGeom>
          <a:solidFill>
            <a:schemeClr val="bg1">
              <a:alpha val="12000"/>
            </a:schemeClr>
          </a:solidFill>
          <a:ln/>
        </p:spPr>
      </p:sp>
      <p:pic>
        <p:nvPicPr>
          <p:cNvPr id="4" name="Image 0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27048"/>
            <a:ext cx="310896" cy="310896"/>
          </a:xfrm>
          <a:prstGeom prst="rect">
            <a:avLst/>
          </a:prstGeom>
        </p:spPr>
      </p:pic>
      <p:sp>
        <p:nvSpPr>
          <p:cNvPr id="5" name="text-189"/>
          <p:cNvSpPr txBox="1"/>
          <p:nvPr/>
        </p:nvSpPr>
        <p:spPr>
          <a:xfrm>
            <a:off x="1234440" y="141732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Easy document submission</a:t>
            </a:r>
            <a:endParaRPr lang="en-US" sz="1700" dirty="0"/>
          </a:p>
        </p:txBody>
      </p:sp>
      <p:sp>
        <p:nvSpPr>
          <p:cNvPr id="6" name="shape-190"/>
          <p:cNvSpPr/>
          <p:nvPr/>
        </p:nvSpPr>
        <p:spPr>
          <a:xfrm>
            <a:off x="6172200" y="1417320"/>
            <a:ext cx="5440680" cy="530352"/>
          </a:xfrm>
          <a:prstGeom prst="roundRect">
            <a:avLst>
              <a:gd name="adj" fmla="val 13793"/>
            </a:avLst>
          </a:prstGeom>
          <a:solidFill>
            <a:schemeClr val="bg1">
              <a:alpha val="12000"/>
            </a:schemeClr>
          </a:solidFill>
          <a:ln/>
        </p:spPr>
      </p:sp>
      <p:pic>
        <p:nvPicPr>
          <p:cNvPr id="7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527048"/>
            <a:ext cx="310896" cy="310896"/>
          </a:xfrm>
          <a:prstGeom prst="rect">
            <a:avLst/>
          </a:prstGeom>
        </p:spPr>
      </p:pic>
      <p:sp>
        <p:nvSpPr>
          <p:cNvPr id="8" name="text-191"/>
          <p:cNvSpPr txBox="1"/>
          <p:nvPr/>
        </p:nvSpPr>
        <p:spPr>
          <a:xfrm>
            <a:off x="6858000" y="141732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Controlled approval process</a:t>
            </a:r>
            <a:endParaRPr lang="en-US" sz="1700" dirty="0"/>
          </a:p>
        </p:txBody>
      </p:sp>
      <p:sp>
        <p:nvSpPr>
          <p:cNvPr id="9" name="shape-192"/>
          <p:cNvSpPr/>
          <p:nvPr/>
        </p:nvSpPr>
        <p:spPr>
          <a:xfrm>
            <a:off x="548640" y="2039112"/>
            <a:ext cx="5440680" cy="530352"/>
          </a:xfrm>
          <a:prstGeom prst="roundRect">
            <a:avLst>
              <a:gd name="adj" fmla="val 13793"/>
            </a:avLst>
          </a:prstGeom>
          <a:solidFill>
            <a:schemeClr val="bg1">
              <a:alpha val="12000"/>
            </a:schemeClr>
          </a:solidFill>
          <a:ln/>
        </p:spPr>
      </p:sp>
      <p:pic>
        <p:nvPicPr>
          <p:cNvPr id="10" name="Image 2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48840"/>
            <a:ext cx="310896" cy="310896"/>
          </a:xfrm>
          <a:prstGeom prst="rect">
            <a:avLst/>
          </a:prstGeom>
        </p:spPr>
      </p:pic>
      <p:sp>
        <p:nvSpPr>
          <p:cNvPr id="11" name="text-193"/>
          <p:cNvSpPr txBox="1"/>
          <p:nvPr/>
        </p:nvSpPr>
        <p:spPr>
          <a:xfrm>
            <a:off x="1234440" y="2039112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Automatic revision management</a:t>
            </a:r>
            <a:endParaRPr lang="en-US" sz="1700" dirty="0"/>
          </a:p>
        </p:txBody>
      </p:sp>
      <p:sp>
        <p:nvSpPr>
          <p:cNvPr id="12" name="shape-194"/>
          <p:cNvSpPr/>
          <p:nvPr/>
        </p:nvSpPr>
        <p:spPr>
          <a:xfrm>
            <a:off x="6172200" y="2039112"/>
            <a:ext cx="5440680" cy="530352"/>
          </a:xfrm>
          <a:prstGeom prst="roundRect">
            <a:avLst>
              <a:gd name="adj" fmla="val 13793"/>
            </a:avLst>
          </a:prstGeom>
          <a:solidFill>
            <a:schemeClr val="bg1">
              <a:alpha val="12000"/>
            </a:schemeClr>
          </a:solidFill>
          <a:ln/>
        </p:spPr>
      </p:sp>
      <p:pic>
        <p:nvPicPr>
          <p:cNvPr id="13" name="Image 3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148840"/>
            <a:ext cx="310896" cy="310896"/>
          </a:xfrm>
          <a:prstGeom prst="rect">
            <a:avLst/>
          </a:prstGeom>
        </p:spPr>
      </p:pic>
      <p:sp>
        <p:nvSpPr>
          <p:cNvPr id="14" name="text-195"/>
          <p:cNvSpPr txBox="1"/>
          <p:nvPr/>
        </p:nvSpPr>
        <p:spPr>
          <a:xfrm>
            <a:off x="6858000" y="2039112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Automatic page count</a:t>
            </a:r>
            <a:endParaRPr lang="en-US" sz="1700" dirty="0"/>
          </a:p>
        </p:txBody>
      </p:sp>
      <p:sp>
        <p:nvSpPr>
          <p:cNvPr id="15" name="shape-196"/>
          <p:cNvSpPr/>
          <p:nvPr/>
        </p:nvSpPr>
        <p:spPr>
          <a:xfrm>
            <a:off x="548640" y="2660904"/>
            <a:ext cx="5440680" cy="530352"/>
          </a:xfrm>
          <a:prstGeom prst="roundRect">
            <a:avLst>
              <a:gd name="adj" fmla="val 13793"/>
            </a:avLst>
          </a:prstGeom>
          <a:solidFill>
            <a:schemeClr val="bg1">
              <a:alpha val="12000"/>
            </a:schemeClr>
          </a:solidFill>
          <a:ln/>
        </p:spPr>
      </p:sp>
      <p:pic>
        <p:nvPicPr>
          <p:cNvPr id="16" name="Image 4" descr="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770632"/>
            <a:ext cx="310896" cy="310896"/>
          </a:xfrm>
          <a:prstGeom prst="rect">
            <a:avLst/>
          </a:prstGeom>
        </p:spPr>
      </p:pic>
      <p:sp>
        <p:nvSpPr>
          <p:cNvPr id="17" name="text-197"/>
          <p:cNvSpPr txBox="1"/>
          <p:nvPr/>
        </p:nvSpPr>
        <p:spPr>
          <a:xfrm>
            <a:off x="1234440" y="2660904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Correct ISO folder storage</a:t>
            </a:r>
            <a:endParaRPr lang="en-US" sz="1700" dirty="0"/>
          </a:p>
        </p:txBody>
      </p:sp>
      <p:sp>
        <p:nvSpPr>
          <p:cNvPr id="18" name="shape-198"/>
          <p:cNvSpPr/>
          <p:nvPr/>
        </p:nvSpPr>
        <p:spPr>
          <a:xfrm>
            <a:off x="6172200" y="2660904"/>
            <a:ext cx="5440680" cy="530352"/>
          </a:xfrm>
          <a:prstGeom prst="roundRect">
            <a:avLst>
              <a:gd name="adj" fmla="val 13793"/>
            </a:avLst>
          </a:prstGeom>
          <a:solidFill>
            <a:schemeClr val="bg1">
              <a:alpha val="12000"/>
            </a:schemeClr>
          </a:solidFill>
          <a:ln/>
        </p:spPr>
      </p:sp>
      <p:pic>
        <p:nvPicPr>
          <p:cNvPr id="19" name="Image 5" descr="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2770632"/>
            <a:ext cx="310896" cy="310896"/>
          </a:xfrm>
          <a:prstGeom prst="rect">
            <a:avLst/>
          </a:prstGeom>
        </p:spPr>
      </p:pic>
      <p:sp>
        <p:nvSpPr>
          <p:cNvPr id="20" name="text-199"/>
          <p:cNvSpPr txBox="1"/>
          <p:nvPr/>
        </p:nvSpPr>
        <p:spPr>
          <a:xfrm>
            <a:off x="6858000" y="2660904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Master Table automatically maintained</a:t>
            </a:r>
            <a:endParaRPr lang="en-US" sz="1700" dirty="0"/>
          </a:p>
        </p:txBody>
      </p:sp>
      <p:sp>
        <p:nvSpPr>
          <p:cNvPr id="21" name="shape-200"/>
          <p:cNvSpPr/>
          <p:nvPr/>
        </p:nvSpPr>
        <p:spPr>
          <a:xfrm>
            <a:off x="548640" y="3282696"/>
            <a:ext cx="5440680" cy="530352"/>
          </a:xfrm>
          <a:prstGeom prst="roundRect">
            <a:avLst>
              <a:gd name="adj" fmla="val 13793"/>
            </a:avLst>
          </a:prstGeom>
          <a:solidFill>
            <a:schemeClr val="bg1">
              <a:alpha val="12000"/>
            </a:schemeClr>
          </a:solidFill>
          <a:ln/>
        </p:spPr>
      </p:sp>
      <p:pic>
        <p:nvPicPr>
          <p:cNvPr id="22" name="Image 6" descr="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3392424"/>
            <a:ext cx="310896" cy="310896"/>
          </a:xfrm>
          <a:prstGeom prst="rect">
            <a:avLst/>
          </a:prstGeom>
        </p:spPr>
      </p:pic>
      <p:sp>
        <p:nvSpPr>
          <p:cNvPr id="23" name="text-201"/>
          <p:cNvSpPr txBox="1"/>
          <p:nvPr/>
        </p:nvSpPr>
        <p:spPr>
          <a:xfrm>
            <a:off x="1234440" y="3282696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Previous revisions preserved</a:t>
            </a:r>
            <a:endParaRPr lang="en-US" sz="1700" dirty="0"/>
          </a:p>
        </p:txBody>
      </p:sp>
      <p:sp>
        <p:nvSpPr>
          <p:cNvPr id="24" name="shape-202"/>
          <p:cNvSpPr/>
          <p:nvPr/>
        </p:nvSpPr>
        <p:spPr>
          <a:xfrm>
            <a:off x="6172200" y="3282696"/>
            <a:ext cx="5440680" cy="530352"/>
          </a:xfrm>
          <a:prstGeom prst="roundRect">
            <a:avLst>
              <a:gd name="adj" fmla="val 13793"/>
            </a:avLst>
          </a:prstGeom>
          <a:solidFill>
            <a:schemeClr val="bg1">
              <a:alpha val="12000"/>
            </a:schemeClr>
          </a:solidFill>
          <a:ln/>
        </p:spPr>
      </p:sp>
      <p:pic>
        <p:nvPicPr>
          <p:cNvPr id="25" name="Image 7" descr="check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3392424"/>
            <a:ext cx="310896" cy="310896"/>
          </a:xfrm>
          <a:prstGeom prst="rect">
            <a:avLst/>
          </a:prstGeom>
        </p:spPr>
      </p:pic>
      <p:sp>
        <p:nvSpPr>
          <p:cNvPr id="26" name="text-203"/>
          <p:cNvSpPr txBox="1"/>
          <p:nvPr/>
        </p:nvSpPr>
        <p:spPr>
          <a:xfrm>
            <a:off x="6858000" y="3282696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Better traceability</a:t>
            </a:r>
            <a:endParaRPr lang="en-US" sz="1700" dirty="0"/>
          </a:p>
        </p:txBody>
      </p:sp>
      <p:sp>
        <p:nvSpPr>
          <p:cNvPr id="27" name="shape-204"/>
          <p:cNvSpPr/>
          <p:nvPr/>
        </p:nvSpPr>
        <p:spPr>
          <a:xfrm>
            <a:off x="548640" y="3904488"/>
            <a:ext cx="5440680" cy="530352"/>
          </a:xfrm>
          <a:prstGeom prst="roundRect">
            <a:avLst>
              <a:gd name="adj" fmla="val 13793"/>
            </a:avLst>
          </a:prstGeom>
          <a:solidFill>
            <a:schemeClr val="bg1">
              <a:alpha val="12000"/>
            </a:schemeClr>
          </a:solidFill>
          <a:ln/>
        </p:spPr>
      </p:sp>
      <p:pic>
        <p:nvPicPr>
          <p:cNvPr id="28" name="Image 8" descr="check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4014216"/>
            <a:ext cx="310896" cy="310896"/>
          </a:xfrm>
          <a:prstGeom prst="rect">
            <a:avLst/>
          </a:prstGeom>
        </p:spPr>
      </p:pic>
      <p:sp>
        <p:nvSpPr>
          <p:cNvPr id="29" name="text-205"/>
          <p:cNvSpPr txBox="1"/>
          <p:nvPr/>
        </p:nvSpPr>
        <p:spPr>
          <a:xfrm>
            <a:off x="1234440" y="390448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Less manual work</a:t>
            </a:r>
            <a:endParaRPr lang="en-US" sz="1700" dirty="0"/>
          </a:p>
        </p:txBody>
      </p:sp>
      <p:sp>
        <p:nvSpPr>
          <p:cNvPr id="30" name="shape-206"/>
          <p:cNvSpPr/>
          <p:nvPr/>
        </p:nvSpPr>
        <p:spPr>
          <a:xfrm>
            <a:off x="6172200" y="3904488"/>
            <a:ext cx="5440680" cy="530352"/>
          </a:xfrm>
          <a:prstGeom prst="roundRect">
            <a:avLst>
              <a:gd name="adj" fmla="val 13793"/>
            </a:avLst>
          </a:prstGeom>
          <a:solidFill>
            <a:schemeClr val="bg1">
              <a:alpha val="12000"/>
            </a:schemeClr>
          </a:solidFill>
          <a:ln/>
        </p:spPr>
      </p:sp>
      <p:pic>
        <p:nvPicPr>
          <p:cNvPr id="31" name="Image 9" descr="check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5080" y="4014216"/>
            <a:ext cx="310896" cy="310896"/>
          </a:xfrm>
          <a:prstGeom prst="rect">
            <a:avLst/>
          </a:prstGeom>
        </p:spPr>
      </p:pic>
      <p:sp>
        <p:nvSpPr>
          <p:cNvPr id="32" name="text-207"/>
          <p:cNvSpPr txBox="1"/>
          <p:nvPr/>
        </p:nvSpPr>
        <p:spPr>
          <a:xfrm>
            <a:off x="6858000" y="390448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Controlled document lifecycle</a:t>
            </a:r>
            <a:endParaRPr lang="en-US" sz="1700" dirty="0"/>
          </a:p>
        </p:txBody>
      </p:sp>
      <p:sp>
        <p:nvSpPr>
          <p:cNvPr id="33" name="text-208"/>
          <p:cNvSpPr txBox="1"/>
          <p:nvPr/>
        </p:nvSpPr>
        <p:spPr>
          <a:xfrm>
            <a:off x="54864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THE KEY MESSAGE</a:t>
            </a:r>
            <a:endParaRPr lang="en-US" sz="1200" dirty="0"/>
          </a:p>
        </p:txBody>
      </p:sp>
      <p:sp>
        <p:nvSpPr>
          <p:cNvPr id="34" name="chain-209"/>
          <p:cNvSpPr txBox="1"/>
          <p:nvPr/>
        </p:nvSpPr>
        <p:spPr>
          <a:xfrm>
            <a:off x="548640" y="4937760"/>
            <a:ext cx="155448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DCR Submitted</a:t>
            </a:r>
            <a:endParaRPr lang="en-US" sz="1400" dirty="0"/>
          </a:p>
        </p:txBody>
      </p:sp>
      <p:sp>
        <p:nvSpPr>
          <p:cNvPr id="35" name="arrow-210"/>
          <p:cNvSpPr/>
          <p:nvPr/>
        </p:nvSpPr>
        <p:spPr>
          <a:xfrm>
            <a:off x="2121408" y="5532120"/>
            <a:ext cx="310896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6" name="chain-211"/>
          <p:cNvSpPr txBox="1"/>
          <p:nvPr/>
        </p:nvSpPr>
        <p:spPr>
          <a:xfrm>
            <a:off x="2450592" y="4937760"/>
            <a:ext cx="155448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Reviewed</a:t>
            </a:r>
            <a:endParaRPr lang="en-US" sz="1400" dirty="0"/>
          </a:p>
        </p:txBody>
      </p:sp>
      <p:sp>
        <p:nvSpPr>
          <p:cNvPr id="37" name="arrow-212"/>
          <p:cNvSpPr/>
          <p:nvPr/>
        </p:nvSpPr>
        <p:spPr>
          <a:xfrm>
            <a:off x="4023360" y="5532120"/>
            <a:ext cx="310896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8" name="chain-213"/>
          <p:cNvSpPr txBox="1"/>
          <p:nvPr/>
        </p:nvSpPr>
        <p:spPr>
          <a:xfrm>
            <a:off x="4352544" y="4937760"/>
            <a:ext cx="155448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Approved</a:t>
            </a:r>
            <a:endParaRPr lang="en-US" sz="1400" dirty="0"/>
          </a:p>
        </p:txBody>
      </p:sp>
      <p:sp>
        <p:nvSpPr>
          <p:cNvPr id="39" name="arrow-214"/>
          <p:cNvSpPr/>
          <p:nvPr/>
        </p:nvSpPr>
        <p:spPr>
          <a:xfrm>
            <a:off x="5925312" y="5532120"/>
            <a:ext cx="310896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0" name="chain-215"/>
          <p:cNvSpPr txBox="1"/>
          <p:nvPr/>
        </p:nvSpPr>
        <p:spPr>
          <a:xfrm>
            <a:off x="6254496" y="4937760"/>
            <a:ext cx="155448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New Document / Revision Created</a:t>
            </a:r>
            <a:endParaRPr lang="en-US" sz="1400" dirty="0"/>
          </a:p>
        </p:txBody>
      </p:sp>
      <p:sp>
        <p:nvSpPr>
          <p:cNvPr id="41" name="arrow-216"/>
          <p:cNvSpPr/>
          <p:nvPr/>
        </p:nvSpPr>
        <p:spPr>
          <a:xfrm>
            <a:off x="7827264" y="5532120"/>
            <a:ext cx="310896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2" name="chain-217"/>
          <p:cNvSpPr txBox="1"/>
          <p:nvPr/>
        </p:nvSpPr>
        <p:spPr>
          <a:xfrm>
            <a:off x="8156448" y="4937760"/>
            <a:ext cx="155448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Saved in Correct ISO Department Folder</a:t>
            </a:r>
            <a:endParaRPr lang="en-US" sz="1400" dirty="0"/>
          </a:p>
        </p:txBody>
      </p:sp>
      <p:sp>
        <p:nvSpPr>
          <p:cNvPr id="43" name="arrow-218"/>
          <p:cNvSpPr/>
          <p:nvPr/>
        </p:nvSpPr>
        <p:spPr>
          <a:xfrm>
            <a:off x="9729216" y="5532120"/>
            <a:ext cx="310896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4" name="chain-219"/>
          <p:cNvSpPr txBox="1"/>
          <p:nvPr/>
        </p:nvSpPr>
        <p:spPr>
          <a:xfrm>
            <a:off x="10058400" y="4937760"/>
            <a:ext cx="1554480" cy="11887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Master Table Updated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MS Steel">
  <a:themeElements>
    <a:clrScheme name="QMS Steel">
      <a:dk1>
        <a:srgbClr val="1B2631"/>
      </a:dk1>
      <a:lt1>
        <a:srgbClr val="FFFFFF"/>
      </a:lt1>
      <a:dk2>
        <a:srgbClr val="1F3347"/>
      </a:dk2>
      <a:lt2>
        <a:srgbClr val="EEF2F5"/>
      </a:lt2>
      <a:accent1>
        <a:srgbClr val="F28C28"/>
      </a:accent1>
      <a:accent2>
        <a:srgbClr val="238A5E"/>
      </a:accent2>
      <a:accent3>
        <a:srgbClr val="C0392B"/>
      </a:accent3>
      <a:accent4>
        <a:srgbClr val="3A7CA5"/>
      </a:accent4>
      <a:accent5>
        <a:srgbClr val="5B6B7C"/>
      </a:accent5>
      <a:accent6>
        <a:srgbClr val="F2C14E"/>
      </a:accent6>
      <a:hlink>
        <a:srgbClr val="3A7CA5"/>
      </a:hlink>
      <a:folHlink>
        <a:srgbClr val="5B6B7C"/>
      </a:folHlink>
    </a:clrScheme>
    <a:fontScheme name="QMS Stee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Manufacturing QMS – Document Change Request (DCR)</dc:title>
  <dc:subject>PptxGenJS Presentation</dc:subject>
  <dc:creator>Quality Management</dc:creator>
  <cp:lastModifiedBy>Quality Management</cp:lastModifiedBy>
  <cp:revision>1</cp:revision>
  <dcterms:created xsi:type="dcterms:W3CDTF">2026-10-08T06:00:22Z</dcterms:created>
  <dcterms:modified xsi:type="dcterms:W3CDTF">2026-10-08T06:00:22Z</dcterms:modified>
</cp:coreProperties>
</file>